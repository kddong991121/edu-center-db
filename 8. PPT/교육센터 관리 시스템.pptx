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</p:sldIdLst>
  <p:sldSz cx="18288000" cy="10287000"/>
  <p:notesSz cx="6858000" cy="9144000"/>
  <p:embeddedFontLst>
    <p:embeddedFont>
      <p:font typeface="Arimo" charset="1" panose="020B0604020202020204"/>
      <p:regular r:id="rId59"/>
    </p:embeddedFont>
    <p:embeddedFont>
      <p:font typeface="JASO Sans" charset="1" panose="020E0002060000000900"/>
      <p:regular r:id="rId60"/>
    </p:embeddedFont>
    <p:embeddedFont>
      <p:font typeface="JASO Sans Bold" charset="1" panose="020E0002060000000900"/>
      <p:regular r:id="rId61"/>
    </p:embeddedFont>
    <p:embeddedFont>
      <p:font typeface="Poppins Bold" charset="1" panose="00000800000000000000"/>
      <p:regular r:id="rId62"/>
    </p:embeddedFont>
    <p:embeddedFont>
      <p:font typeface="Roboto Mono" charset="1" panose="00000000000000000000"/>
      <p:regular r:id="rId63"/>
    </p:embeddedFont>
    <p:embeddedFont>
      <p:font typeface="Poppins" charset="1" panose="00000500000000000000"/>
      <p:regular r:id="rId6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fonts/font59.fntdata" Type="http://schemas.openxmlformats.org/officeDocument/2006/relationships/font"/><Relationship Id="rId6" Target="slides/slide1.xml" Type="http://schemas.openxmlformats.org/officeDocument/2006/relationships/slide"/><Relationship Id="rId60" Target="fonts/font60.fntdata" Type="http://schemas.openxmlformats.org/officeDocument/2006/relationships/font"/><Relationship Id="rId61" Target="fonts/font61.fntdata" Type="http://schemas.openxmlformats.org/officeDocument/2006/relationships/font"/><Relationship Id="rId62" Target="fonts/font62.fntdata" Type="http://schemas.openxmlformats.org/officeDocument/2006/relationships/font"/><Relationship Id="rId63" Target="fonts/font63.fntdata" Type="http://schemas.openxmlformats.org/officeDocument/2006/relationships/font"/><Relationship Id="rId64" Target="fonts/font64.fntdata" Type="http://schemas.openxmlformats.org/officeDocument/2006/relationships/font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11" Target="../media/image22.png" Type="http://schemas.openxmlformats.org/officeDocument/2006/relationships/image"/><Relationship Id="rId12" Target="../media/image23.svg" Type="http://schemas.openxmlformats.org/officeDocument/2006/relationships/image"/><Relationship Id="rId13" Target="../media/image18.png" Type="http://schemas.openxmlformats.org/officeDocument/2006/relationships/image"/><Relationship Id="rId14" Target="../media/image19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svg" Type="http://schemas.openxmlformats.org/officeDocument/2006/relationships/image"/><Relationship Id="rId11" Target="../media/image26.png" Type="http://schemas.openxmlformats.org/officeDocument/2006/relationships/image"/><Relationship Id="rId12" Target="../media/image27.svg" Type="http://schemas.openxmlformats.org/officeDocument/2006/relationships/image"/><Relationship Id="rId13" Target="../media/image28.png" Type="http://schemas.openxmlformats.org/officeDocument/2006/relationships/image"/><Relationship Id="rId14" Target="../media/image29.svg" Type="http://schemas.openxmlformats.org/officeDocument/2006/relationships/image"/><Relationship Id="rId15" Target="../media/image30.png" Type="http://schemas.openxmlformats.org/officeDocument/2006/relationships/image"/><Relationship Id="rId16" Target="../media/image31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svg" Type="http://schemas.openxmlformats.org/officeDocument/2006/relationships/image"/><Relationship Id="rId11" Target="../media/image34.png" Type="http://schemas.openxmlformats.org/officeDocument/2006/relationships/image"/><Relationship Id="rId12" Target="../media/image35.svg" Type="http://schemas.openxmlformats.org/officeDocument/2006/relationships/image"/><Relationship Id="rId13" Target="../media/image36.png" Type="http://schemas.openxmlformats.org/officeDocument/2006/relationships/image"/><Relationship Id="rId14" Target="../media/image37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svg" Type="http://schemas.openxmlformats.org/officeDocument/2006/relationships/image"/><Relationship Id="rId11" Target="../media/image40.png" Type="http://schemas.openxmlformats.org/officeDocument/2006/relationships/image"/><Relationship Id="rId12" Target="../media/image41.svg" Type="http://schemas.openxmlformats.org/officeDocument/2006/relationships/image"/><Relationship Id="rId13" Target="../media/image42.png" Type="http://schemas.openxmlformats.org/officeDocument/2006/relationships/image"/><Relationship Id="rId14" Target="../media/image43.svg" Type="http://schemas.openxmlformats.org/officeDocument/2006/relationships/image"/><Relationship Id="rId15" Target="../media/image18.png" Type="http://schemas.openxmlformats.org/officeDocument/2006/relationships/image"/><Relationship Id="rId16" Target="../media/image19.svg" Type="http://schemas.openxmlformats.org/officeDocument/2006/relationships/image"/><Relationship Id="rId17" Target="../media/image44.png" Type="http://schemas.openxmlformats.org/officeDocument/2006/relationships/image"/><Relationship Id="rId18" Target="../media/image45.svg" Type="http://schemas.openxmlformats.org/officeDocument/2006/relationships/image"/><Relationship Id="rId19" Target="../media/image46.png" Type="http://schemas.openxmlformats.org/officeDocument/2006/relationships/image"/><Relationship Id="rId2" Target="../media/image5.png" Type="http://schemas.openxmlformats.org/officeDocument/2006/relationships/image"/><Relationship Id="rId20" Target="../media/image47.svg" Type="http://schemas.openxmlformats.org/officeDocument/2006/relationships/image"/><Relationship Id="rId21" Target="../media/image48.png" Type="http://schemas.openxmlformats.org/officeDocument/2006/relationships/image"/><Relationship Id="rId22" Target="../media/image49.svg" Type="http://schemas.openxmlformats.org/officeDocument/2006/relationships/image"/><Relationship Id="rId3" Target="../media/image6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6.png" Type="http://schemas.openxmlformats.org/officeDocument/2006/relationships/image"/><Relationship Id="rId7" Target="../media/image50.png" Type="http://schemas.openxmlformats.org/officeDocument/2006/relationships/image"/><Relationship Id="rId8" Target="../media/image51.pn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6.png" Type="http://schemas.openxmlformats.org/officeDocument/2006/relationships/image"/><Relationship Id="rId9" Target="../media/image5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54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6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png" Type="http://schemas.openxmlformats.org/officeDocument/2006/relationships/image"/><Relationship Id="rId11" Target="../media/image16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56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6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57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6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58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6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60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6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6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6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62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6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63.png" Type="http://schemas.openxmlformats.org/officeDocument/2006/relationships/image"/><Relationship Id="rId8" Target="../media/image64.png" Type="http://schemas.openxmlformats.org/officeDocument/2006/relationships/image"/><Relationship Id="rId9" Target="../media/image65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6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66.png" Type="http://schemas.openxmlformats.org/officeDocument/2006/relationships/image"/><Relationship Id="rId8" Target="../media/image67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6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68.png" Type="http://schemas.openxmlformats.org/officeDocument/2006/relationships/image"/><Relationship Id="rId8" Target="../media/image69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6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70.png" Type="http://schemas.openxmlformats.org/officeDocument/2006/relationships/image"/><Relationship Id="rId8" Target="../media/image71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6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72.png" Type="http://schemas.openxmlformats.org/officeDocument/2006/relationships/image"/><Relationship Id="rId8" Target="../media/image73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6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74.png" Type="http://schemas.openxmlformats.org/officeDocument/2006/relationships/image"/><Relationship Id="rId8" Target="../media/image75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6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76.png" Type="http://schemas.openxmlformats.org/officeDocument/2006/relationships/image"/><Relationship Id="rId8" Target="../media/image77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6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78.png" Type="http://schemas.openxmlformats.org/officeDocument/2006/relationships/image"/><Relationship Id="rId8" Target="../media/image79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6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80.png" Type="http://schemas.openxmlformats.org/officeDocument/2006/relationships/image"/><Relationship Id="rId8" Target="../media/image81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6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82.png" Type="http://schemas.openxmlformats.org/officeDocument/2006/relationships/image"/><Relationship Id="rId8" Target="../media/image83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6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84.png" Type="http://schemas.openxmlformats.org/officeDocument/2006/relationships/image"/><Relationship Id="rId8" Target="../media/image85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6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86.png" Type="http://schemas.openxmlformats.org/officeDocument/2006/relationships/image"/><Relationship Id="rId8" Target="../media/image87.png" Type="http://schemas.openxmlformats.org/officeDocument/2006/relationships/image"/><Relationship Id="rId9" Target="../media/image88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6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89.png" Type="http://schemas.openxmlformats.org/officeDocument/2006/relationships/image"/><Relationship Id="rId8" Target="../media/image90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6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91.png" Type="http://schemas.openxmlformats.org/officeDocument/2006/relationships/image"/><Relationship Id="rId8" Target="../media/image92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6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93.png" Type="http://schemas.openxmlformats.org/officeDocument/2006/relationships/image"/><Relationship Id="rId8" Target="../media/image94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6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95.png" Type="http://schemas.openxmlformats.org/officeDocument/2006/relationships/image"/><Relationship Id="rId8" Target="../media/image96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6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97.png" Type="http://schemas.openxmlformats.org/officeDocument/2006/relationships/image"/><Relationship Id="rId8" Target="../media/image98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6.png" Type="http://schemas.openxmlformats.org/officeDocument/2006/relationships/image"/><Relationship Id="rId9" Target="../media/image99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6.png" Type="http://schemas.openxmlformats.org/officeDocument/2006/relationships/image"/><Relationship Id="rId9" Target="../media/image100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6.png" Type="http://schemas.openxmlformats.org/officeDocument/2006/relationships/image"/><Relationship Id="rId7" Target="../media/image101.pn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6.png" Type="http://schemas.openxmlformats.org/officeDocument/2006/relationships/image"/><Relationship Id="rId7" Target="../media/image102.pn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6.png" Type="http://schemas.openxmlformats.org/officeDocument/2006/relationships/image"/><Relationship Id="rId7" Target="../media/image103.pn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6.png" Type="http://schemas.openxmlformats.org/officeDocument/2006/relationships/image"/><Relationship Id="rId7" Target="../media/image104.pn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11" Target="../media/image105.png" Type="http://schemas.openxmlformats.org/officeDocument/2006/relationships/image"/><Relationship Id="rId12" Target="../media/image106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6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11" Target="../media/image107.png" Type="http://schemas.openxmlformats.org/officeDocument/2006/relationships/image"/><Relationship Id="rId12" Target="../media/image108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6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60.jpeg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0.png" Type="http://schemas.openxmlformats.org/officeDocument/2006/relationships/image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6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109.png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2.png" Type="http://schemas.openxmlformats.org/officeDocument/2006/relationships/image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6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111.png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6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113.png" Type="http://schemas.openxmlformats.org/officeDocument/2006/relationships/image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4.png" Type="http://schemas.openxmlformats.org/officeDocument/2006/relationships/image"/><Relationship Id="rId3" Target="../media/image115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45642" y="4757671"/>
            <a:ext cx="12664164" cy="1661350"/>
          </a:xfrm>
          <a:custGeom>
            <a:avLst/>
            <a:gdLst/>
            <a:ahLst/>
            <a:cxnLst/>
            <a:rect r="r" b="b" t="t" l="l"/>
            <a:pathLst>
              <a:path h="1661350" w="12664164">
                <a:moveTo>
                  <a:pt x="0" y="0"/>
                </a:moveTo>
                <a:lnTo>
                  <a:pt x="12664164" y="0"/>
                </a:lnTo>
                <a:lnTo>
                  <a:pt x="12664164" y="1661350"/>
                </a:lnTo>
                <a:lnTo>
                  <a:pt x="0" y="16613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50" r="0" b="-15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72602" y="1311069"/>
            <a:ext cx="1942805" cy="1814093"/>
          </a:xfrm>
          <a:custGeom>
            <a:avLst/>
            <a:gdLst/>
            <a:ahLst/>
            <a:cxnLst/>
            <a:rect r="r" b="b" t="t" l="l"/>
            <a:pathLst>
              <a:path h="1814093" w="1942805">
                <a:moveTo>
                  <a:pt x="0" y="0"/>
                </a:moveTo>
                <a:lnTo>
                  <a:pt x="1942805" y="0"/>
                </a:lnTo>
                <a:lnTo>
                  <a:pt x="1942805" y="1814093"/>
                </a:lnTo>
                <a:lnTo>
                  <a:pt x="0" y="18140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9" t="0" r="-109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62008" y="3687137"/>
            <a:ext cx="14963985" cy="634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69"/>
              </a:lnSpc>
            </a:pPr>
            <a:r>
              <a:rPr lang="en-US" sz="5655" spc="-316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교육 센터 관리 프로그램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95121" y="5489286"/>
            <a:ext cx="12165216" cy="634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69"/>
              </a:lnSpc>
            </a:pPr>
            <a:r>
              <a:rPr lang="en-US" sz="5655" spc="-316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Oracle 데이터베이스 프로젝트 · 4조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33159" y="7139940"/>
            <a:ext cx="11621672" cy="466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7"/>
              </a:lnSpc>
            </a:pPr>
            <a:r>
              <a:rPr lang="en-US" sz="1998" spc="-37">
                <a:solidFill>
                  <a:srgbClr val="222222">
                    <a:alpha val="94118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김상준 · 최유빈 · 김요한 · 이동희 · 권익성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165055" y="7643774"/>
            <a:ext cx="7957890" cy="378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2"/>
              </a:lnSpc>
            </a:pPr>
            <a:r>
              <a:rPr lang="en-US" sz="1598" spc="-15">
                <a:solidFill>
                  <a:srgbClr val="222222">
                    <a:alpha val="32157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2026.08</a:t>
            </a:r>
          </a:p>
        </p:txBody>
      </p:sp>
      <p:sp>
        <p:nvSpPr>
          <p:cNvPr name="AutoShape 8" id="8"/>
          <p:cNvSpPr/>
          <p:nvPr/>
        </p:nvSpPr>
        <p:spPr>
          <a:xfrm rot="2580">
            <a:off x="2572283" y="9743780"/>
            <a:ext cx="12694930" cy="0"/>
          </a:xfrm>
          <a:prstGeom prst="line">
            <a:avLst/>
          </a:prstGeom>
          <a:ln cap="rnd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-5400000">
            <a:off x="17673818" y="233477"/>
            <a:ext cx="85658" cy="380705"/>
          </a:xfrm>
          <a:custGeom>
            <a:avLst/>
            <a:gdLst/>
            <a:ahLst/>
            <a:cxnLst/>
            <a:rect r="r" b="b" t="t" l="l"/>
            <a:pathLst>
              <a:path h="380705" w="85658">
                <a:moveTo>
                  <a:pt x="0" y="0"/>
                </a:moveTo>
                <a:lnTo>
                  <a:pt x="85659" y="0"/>
                </a:lnTo>
                <a:lnTo>
                  <a:pt x="85659" y="380705"/>
                </a:lnTo>
                <a:lnTo>
                  <a:pt x="0" y="3807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5559" t="0" r="-5548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7673818" y="233477"/>
            <a:ext cx="85658" cy="380705"/>
          </a:xfrm>
          <a:custGeom>
            <a:avLst/>
            <a:gdLst/>
            <a:ahLst/>
            <a:cxnLst/>
            <a:rect r="r" b="b" t="t" l="l"/>
            <a:pathLst>
              <a:path h="380705" w="85658">
                <a:moveTo>
                  <a:pt x="0" y="0"/>
                </a:moveTo>
                <a:lnTo>
                  <a:pt x="85659" y="0"/>
                </a:lnTo>
                <a:lnTo>
                  <a:pt x="85659" y="380705"/>
                </a:lnTo>
                <a:lnTo>
                  <a:pt x="0" y="380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559" t="0" r="-554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84319" y="3602955"/>
            <a:ext cx="6319361" cy="571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8"/>
              </a:lnSpc>
            </a:pPr>
            <a:r>
              <a:rPr lang="en-US" sz="8273" b="true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목차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285344" y="6162599"/>
            <a:ext cx="576977" cy="759333"/>
          </a:xfrm>
          <a:custGeom>
            <a:avLst/>
            <a:gdLst/>
            <a:ahLst/>
            <a:cxnLst/>
            <a:rect r="r" b="b" t="t" l="l"/>
            <a:pathLst>
              <a:path h="759333" w="576977">
                <a:moveTo>
                  <a:pt x="0" y="0"/>
                </a:moveTo>
                <a:lnTo>
                  <a:pt x="576977" y="0"/>
                </a:lnTo>
                <a:lnTo>
                  <a:pt x="576977" y="759333"/>
                </a:lnTo>
                <a:lnTo>
                  <a:pt x="0" y="7593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74" t="0" r="-174" b="0"/>
            </a:stretch>
          </a:blipFill>
        </p:spPr>
      </p:sp>
      <p:sp>
        <p:nvSpPr>
          <p:cNvPr name="AutoShape 5" id="5"/>
          <p:cNvSpPr/>
          <p:nvPr/>
        </p:nvSpPr>
        <p:spPr>
          <a:xfrm rot="5880">
            <a:off x="3311985" y="6112897"/>
            <a:ext cx="5547932" cy="0"/>
          </a:xfrm>
          <a:prstGeom prst="line">
            <a:avLst/>
          </a:prstGeom>
          <a:ln cap="rnd" w="9525">
            <a:solidFill>
              <a:srgbClr val="222222">
                <a:alpha val="2902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5880">
            <a:off x="9751676" y="6112897"/>
            <a:ext cx="5547932" cy="0"/>
          </a:xfrm>
          <a:prstGeom prst="line">
            <a:avLst/>
          </a:prstGeom>
          <a:ln cap="rnd" w="9525">
            <a:solidFill>
              <a:srgbClr val="222222">
                <a:alpha val="2902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5880">
            <a:off x="3311985" y="7133625"/>
            <a:ext cx="5547932" cy="0"/>
          </a:xfrm>
          <a:prstGeom prst="line">
            <a:avLst/>
          </a:prstGeom>
          <a:ln cap="rnd" w="9525">
            <a:solidFill>
              <a:srgbClr val="222222">
                <a:alpha val="2902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5880">
            <a:off x="9751676" y="7133625"/>
            <a:ext cx="5547932" cy="0"/>
          </a:xfrm>
          <a:prstGeom prst="line">
            <a:avLst/>
          </a:prstGeom>
          <a:ln cap="rnd" w="9525">
            <a:solidFill>
              <a:srgbClr val="222222">
                <a:alpha val="2902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4125249" y="5407342"/>
            <a:ext cx="4350010" cy="427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3096" spc="-140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프로젝트 개요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64940" y="5407342"/>
            <a:ext cx="4350010" cy="427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3096" spc="-140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트러블슈팅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25249" y="6427965"/>
            <a:ext cx="4350010" cy="427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3096" spc="-140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요구분석 개요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64940" y="6427965"/>
            <a:ext cx="4350010" cy="427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3096" spc="-140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업무 SQL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125249" y="7448702"/>
            <a:ext cx="4350010" cy="427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3096" spc="-140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데이터 구조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3285344" y="5252173"/>
            <a:ext cx="576977" cy="649136"/>
            <a:chOff x="0" y="0"/>
            <a:chExt cx="769302" cy="86551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9302" cy="865515"/>
            </a:xfrm>
            <a:custGeom>
              <a:avLst/>
              <a:gdLst/>
              <a:ahLst/>
              <a:cxnLst/>
              <a:rect r="r" b="b" t="t" l="l"/>
              <a:pathLst>
                <a:path h="865515" w="769302">
                  <a:moveTo>
                    <a:pt x="0" y="0"/>
                  </a:moveTo>
                  <a:lnTo>
                    <a:pt x="769303" y="0"/>
                  </a:lnTo>
                  <a:lnTo>
                    <a:pt x="769303" y="865515"/>
                  </a:lnTo>
                  <a:lnTo>
                    <a:pt x="0" y="865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74" t="-16975" r="-174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277151" y="249132"/>
              <a:ext cx="487123" cy="371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54"/>
                </a:lnSpc>
              </a:pPr>
              <a:r>
                <a:rPr lang="en-US" sz="1712" spc="-44" b="true">
                  <a:solidFill>
                    <a:srgbClr val="22222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3036677" y="6459374"/>
            <a:ext cx="1042826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4"/>
              </a:lnSpc>
            </a:pPr>
            <a:r>
              <a:rPr lang="en-US" b="true" sz="1712" spc="-44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8538362" y="1606258"/>
            <a:ext cx="1211275" cy="1132542"/>
          </a:xfrm>
          <a:custGeom>
            <a:avLst/>
            <a:gdLst/>
            <a:ahLst/>
            <a:cxnLst/>
            <a:rect r="r" b="b" t="t" l="l"/>
            <a:pathLst>
              <a:path h="1132542" w="1211275">
                <a:moveTo>
                  <a:pt x="0" y="0"/>
                </a:moveTo>
                <a:lnTo>
                  <a:pt x="1211276" y="0"/>
                </a:lnTo>
                <a:lnTo>
                  <a:pt x="1211276" y="1132541"/>
                </a:lnTo>
                <a:lnTo>
                  <a:pt x="0" y="11325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285" t="0" r="-286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548628" y="7448693"/>
            <a:ext cx="1755053" cy="446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3096" spc="-140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점검 사항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708723" y="7293523"/>
            <a:ext cx="576977" cy="649136"/>
            <a:chOff x="0" y="0"/>
            <a:chExt cx="769302" cy="86551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69302" cy="865515"/>
            </a:xfrm>
            <a:custGeom>
              <a:avLst/>
              <a:gdLst/>
              <a:ahLst/>
              <a:cxnLst/>
              <a:rect r="r" b="b" t="t" l="l"/>
              <a:pathLst>
                <a:path h="865515" w="769302">
                  <a:moveTo>
                    <a:pt x="0" y="0"/>
                  </a:moveTo>
                  <a:lnTo>
                    <a:pt x="769303" y="0"/>
                  </a:lnTo>
                  <a:lnTo>
                    <a:pt x="769303" y="865515"/>
                  </a:lnTo>
                  <a:lnTo>
                    <a:pt x="0" y="865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74" t="-16975" r="-174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277151" y="249132"/>
              <a:ext cx="487123" cy="371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54"/>
                </a:lnSpc>
              </a:pPr>
              <a:r>
                <a:rPr lang="en-US" sz="1712" spc="-44" b="true">
                  <a:solidFill>
                    <a:srgbClr val="22222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693550" y="6307666"/>
            <a:ext cx="576977" cy="649136"/>
            <a:chOff x="0" y="0"/>
            <a:chExt cx="769302" cy="86551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69302" cy="865515"/>
            </a:xfrm>
            <a:custGeom>
              <a:avLst/>
              <a:gdLst/>
              <a:ahLst/>
              <a:cxnLst/>
              <a:rect r="r" b="b" t="t" l="l"/>
              <a:pathLst>
                <a:path h="865515" w="769302">
                  <a:moveTo>
                    <a:pt x="0" y="0"/>
                  </a:moveTo>
                  <a:lnTo>
                    <a:pt x="769303" y="0"/>
                  </a:lnTo>
                  <a:lnTo>
                    <a:pt x="769303" y="865515"/>
                  </a:lnTo>
                  <a:lnTo>
                    <a:pt x="0" y="865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74" t="-16975" r="-174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277151" y="249132"/>
              <a:ext cx="487123" cy="371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54"/>
                </a:lnSpc>
              </a:pPr>
              <a:r>
                <a:rPr lang="en-US" sz="1712" spc="-44" b="true">
                  <a:solidFill>
                    <a:srgbClr val="22222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5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693550" y="5278042"/>
            <a:ext cx="576977" cy="649136"/>
            <a:chOff x="0" y="0"/>
            <a:chExt cx="769302" cy="86551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69302" cy="865515"/>
            </a:xfrm>
            <a:custGeom>
              <a:avLst/>
              <a:gdLst/>
              <a:ahLst/>
              <a:cxnLst/>
              <a:rect r="r" b="b" t="t" l="l"/>
              <a:pathLst>
                <a:path h="865515" w="769302">
                  <a:moveTo>
                    <a:pt x="0" y="0"/>
                  </a:moveTo>
                  <a:lnTo>
                    <a:pt x="769303" y="0"/>
                  </a:lnTo>
                  <a:lnTo>
                    <a:pt x="769303" y="865515"/>
                  </a:lnTo>
                  <a:lnTo>
                    <a:pt x="0" y="865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74" t="-16975" r="-174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277151" y="249132"/>
              <a:ext cx="487123" cy="371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54"/>
                </a:lnSpc>
              </a:pPr>
              <a:r>
                <a:rPr lang="en-US" sz="1712" spc="-44" b="true">
                  <a:solidFill>
                    <a:srgbClr val="22222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269602" y="7380574"/>
            <a:ext cx="576977" cy="544793"/>
            <a:chOff x="0" y="0"/>
            <a:chExt cx="769302" cy="72639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69302" cy="726391"/>
            </a:xfrm>
            <a:custGeom>
              <a:avLst/>
              <a:gdLst/>
              <a:ahLst/>
              <a:cxnLst/>
              <a:rect r="r" b="b" t="t" l="l"/>
              <a:pathLst>
                <a:path h="726391" w="769302">
                  <a:moveTo>
                    <a:pt x="0" y="0"/>
                  </a:moveTo>
                  <a:lnTo>
                    <a:pt x="769303" y="0"/>
                  </a:lnTo>
                  <a:lnTo>
                    <a:pt x="769303" y="726391"/>
                  </a:lnTo>
                  <a:lnTo>
                    <a:pt x="0" y="7263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74" t="-32995" r="-174" b="-638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 rot="0">
              <a:off x="277151" y="156382"/>
              <a:ext cx="487123" cy="371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54"/>
                </a:lnSpc>
              </a:pPr>
              <a:r>
                <a:rPr lang="en-US" sz="1712" spc="-44" b="true">
                  <a:solidFill>
                    <a:srgbClr val="22222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7673818" y="233477"/>
            <a:ext cx="85658" cy="380705"/>
          </a:xfrm>
          <a:custGeom>
            <a:avLst/>
            <a:gdLst/>
            <a:ahLst/>
            <a:cxnLst/>
            <a:rect r="r" b="b" t="t" l="l"/>
            <a:pathLst>
              <a:path h="380705" w="85658">
                <a:moveTo>
                  <a:pt x="0" y="0"/>
                </a:moveTo>
                <a:lnTo>
                  <a:pt x="85659" y="0"/>
                </a:lnTo>
                <a:lnTo>
                  <a:pt x="85659" y="380705"/>
                </a:lnTo>
                <a:lnTo>
                  <a:pt x="0" y="380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559" t="0" r="-554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6337" y="2062162"/>
            <a:ext cx="17053417" cy="7607551"/>
          </a:xfrm>
          <a:custGeom>
            <a:avLst/>
            <a:gdLst/>
            <a:ahLst/>
            <a:cxnLst/>
            <a:rect r="r" b="b" t="t" l="l"/>
            <a:pathLst>
              <a:path h="7607551" w="17053417">
                <a:moveTo>
                  <a:pt x="0" y="0"/>
                </a:moveTo>
                <a:lnTo>
                  <a:pt x="17053417" y="0"/>
                </a:lnTo>
                <a:lnTo>
                  <a:pt x="17053417" y="7607551"/>
                </a:lnTo>
                <a:lnTo>
                  <a:pt x="0" y="76075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" r="0" b="-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81075" y="1047750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4"/>
                </a:lnTo>
                <a:lnTo>
                  <a:pt x="0" y="3839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920610" y="2045218"/>
            <a:ext cx="281750" cy="894493"/>
            <a:chOff x="0" y="0"/>
            <a:chExt cx="375666" cy="11926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5666" cy="1192657"/>
            </a:xfrm>
            <a:custGeom>
              <a:avLst/>
              <a:gdLst/>
              <a:ahLst/>
              <a:cxnLst/>
              <a:rect r="r" b="b" t="t" l="l"/>
              <a:pathLst>
                <a:path h="1192657" w="375666">
                  <a:moveTo>
                    <a:pt x="0" y="0"/>
                  </a:moveTo>
                  <a:lnTo>
                    <a:pt x="375666" y="0"/>
                  </a:lnTo>
                  <a:lnTo>
                    <a:pt x="375666" y="1192657"/>
                  </a:lnTo>
                  <a:lnTo>
                    <a:pt x="0" y="119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67" t="0" r="-267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58598" y="3312157"/>
            <a:ext cx="7164800" cy="5278184"/>
            <a:chOff x="0" y="0"/>
            <a:chExt cx="9553067" cy="70375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53067" cy="7037578"/>
            </a:xfrm>
            <a:custGeom>
              <a:avLst/>
              <a:gdLst/>
              <a:ahLst/>
              <a:cxnLst/>
              <a:rect r="r" b="b" t="t" l="l"/>
              <a:pathLst>
                <a:path h="7037578" w="9553067">
                  <a:moveTo>
                    <a:pt x="0" y="0"/>
                  </a:moveTo>
                  <a:lnTo>
                    <a:pt x="9553067" y="0"/>
                  </a:lnTo>
                  <a:lnTo>
                    <a:pt x="9553067" y="7037578"/>
                  </a:lnTo>
                  <a:lnTo>
                    <a:pt x="0" y="7037578"/>
                  </a:lnTo>
                  <a:close/>
                </a:path>
              </a:pathLst>
            </a:custGeom>
            <a:blipFill>
              <a:blip r:embed="rId9"/>
              <a:stretch>
                <a:fillRect l="0" t="-11775" r="0" b="-11774"/>
              </a:stretch>
            </a:blipFill>
            <a:ln w="19050" cap="sq">
              <a:solidFill>
                <a:srgbClr val="222222"/>
              </a:solidFill>
              <a:prstDash val="solid"/>
              <a:miter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9471917" y="3866902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6"/>
                </a:lnTo>
                <a:lnTo>
                  <a:pt x="0" y="1683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832" t="0" r="-832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471917" y="5543921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6"/>
                </a:lnTo>
                <a:lnTo>
                  <a:pt x="0" y="1683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832" t="0" r="-832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471917" y="7169648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6"/>
                </a:lnTo>
                <a:lnTo>
                  <a:pt x="0" y="1683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832" t="0" r="-832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17637" y="1073391"/>
            <a:ext cx="5306244" cy="651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30"/>
              </a:lnSpc>
            </a:pPr>
            <a:r>
              <a:rPr lang="en-US" sz="6011" spc="-180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프로젝트 개요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33277" y="3833536"/>
            <a:ext cx="3205496" cy="285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1"/>
              </a:lnSpc>
            </a:pPr>
            <a:r>
              <a:rPr lang="en-US" sz="2510" spc="-100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대상 기관 및 운영 인원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33277" y="5520090"/>
            <a:ext cx="3205496" cy="285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1"/>
              </a:lnSpc>
            </a:pPr>
            <a:r>
              <a:rPr lang="en-US" sz="2510" spc="-100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강의실 및 과정 운영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33277" y="7139978"/>
            <a:ext cx="3205496" cy="285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1"/>
              </a:lnSpc>
            </a:pPr>
            <a:r>
              <a:rPr lang="en-US" sz="2510" spc="-100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교육 운영 프로세스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71917" y="4259809"/>
            <a:ext cx="7483164" cy="468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1"/>
              </a:lnSpc>
            </a:pPr>
            <a:r>
              <a:rPr lang="en-US" sz="1961" spc="-19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쌍용 교육 센터 · 관리자 3~5명 · 교사 10명(강의 6명·대기 4명)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71917" y="5883726"/>
            <a:ext cx="7483164" cy="411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1"/>
              </a:lnSpc>
            </a:pPr>
            <a:r>
              <a:rPr lang="en-US" sz="1961" spc="-19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강의실 6개(1~3실 30명, 4~6실 26명) · 과정 6개월 · 과목 30~50개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71917" y="7507653"/>
            <a:ext cx="7483164" cy="468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1"/>
              </a:lnSpc>
            </a:pPr>
            <a:r>
              <a:rPr lang="en-US" sz="1961" spc="-19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과정 생성 → 시행 확정 → 모집 → 선발 → 개강 → 운영 → 종강 → 사후처리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7673818" y="233477"/>
            <a:ext cx="85658" cy="380705"/>
          </a:xfrm>
          <a:custGeom>
            <a:avLst/>
            <a:gdLst/>
            <a:ahLst/>
            <a:cxnLst/>
            <a:rect r="r" b="b" t="t" l="l"/>
            <a:pathLst>
              <a:path h="380705" w="85658">
                <a:moveTo>
                  <a:pt x="0" y="0"/>
                </a:moveTo>
                <a:lnTo>
                  <a:pt x="85659" y="0"/>
                </a:lnTo>
                <a:lnTo>
                  <a:pt x="85659" y="380705"/>
                </a:lnTo>
                <a:lnTo>
                  <a:pt x="0" y="380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559" t="0" r="-554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17637" y="1073391"/>
            <a:ext cx="5306244" cy="651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30"/>
              </a:lnSpc>
            </a:pPr>
            <a:r>
              <a:rPr lang="en-US" sz="6011" spc="-180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개발 환경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17287" y="2062162"/>
            <a:ext cx="17053417" cy="7607551"/>
          </a:xfrm>
          <a:custGeom>
            <a:avLst/>
            <a:gdLst/>
            <a:ahLst/>
            <a:cxnLst/>
            <a:rect r="r" b="b" t="t" l="l"/>
            <a:pathLst>
              <a:path h="7607551" w="17053417">
                <a:moveTo>
                  <a:pt x="0" y="0"/>
                </a:moveTo>
                <a:lnTo>
                  <a:pt x="17053417" y="0"/>
                </a:lnTo>
                <a:lnTo>
                  <a:pt x="17053417" y="7607551"/>
                </a:lnTo>
                <a:lnTo>
                  <a:pt x="0" y="76075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" r="0" b="-2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81075" y="1047750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4"/>
                </a:lnTo>
                <a:lnTo>
                  <a:pt x="0" y="3839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920610" y="2045218"/>
            <a:ext cx="281750" cy="894493"/>
            <a:chOff x="0" y="0"/>
            <a:chExt cx="375666" cy="11926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5666" cy="1192657"/>
            </a:xfrm>
            <a:custGeom>
              <a:avLst/>
              <a:gdLst/>
              <a:ahLst/>
              <a:cxnLst/>
              <a:rect r="r" b="b" t="t" l="l"/>
              <a:pathLst>
                <a:path h="1192657" w="375666">
                  <a:moveTo>
                    <a:pt x="0" y="0"/>
                  </a:moveTo>
                  <a:lnTo>
                    <a:pt x="375666" y="0"/>
                  </a:lnTo>
                  <a:lnTo>
                    <a:pt x="375666" y="1192657"/>
                  </a:lnTo>
                  <a:lnTo>
                    <a:pt x="0" y="119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67" t="0" r="-267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3522850" y="3157642"/>
            <a:ext cx="3887943" cy="1173575"/>
          </a:xfrm>
          <a:custGeom>
            <a:avLst/>
            <a:gdLst/>
            <a:ahLst/>
            <a:cxnLst/>
            <a:rect r="r" b="b" t="t" l="l"/>
            <a:pathLst>
              <a:path h="1173575" w="3887943">
                <a:moveTo>
                  <a:pt x="0" y="0"/>
                </a:moveTo>
                <a:lnTo>
                  <a:pt x="3887943" y="0"/>
                </a:lnTo>
                <a:lnTo>
                  <a:pt x="3887943" y="1173576"/>
                </a:lnTo>
                <a:lnTo>
                  <a:pt x="0" y="117357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219" r="0" b="-21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522850" y="5458987"/>
            <a:ext cx="3887943" cy="1173575"/>
          </a:xfrm>
          <a:custGeom>
            <a:avLst/>
            <a:gdLst/>
            <a:ahLst/>
            <a:cxnLst/>
            <a:rect r="r" b="b" t="t" l="l"/>
            <a:pathLst>
              <a:path h="1173575" w="3887943">
                <a:moveTo>
                  <a:pt x="0" y="0"/>
                </a:moveTo>
                <a:lnTo>
                  <a:pt x="3887943" y="0"/>
                </a:lnTo>
                <a:lnTo>
                  <a:pt x="3887943" y="1173575"/>
                </a:lnTo>
                <a:lnTo>
                  <a:pt x="0" y="117357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219" r="0" b="-219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522850" y="4309967"/>
            <a:ext cx="3887943" cy="1173575"/>
          </a:xfrm>
          <a:custGeom>
            <a:avLst/>
            <a:gdLst/>
            <a:ahLst/>
            <a:cxnLst/>
            <a:rect r="r" b="b" t="t" l="l"/>
            <a:pathLst>
              <a:path h="1173575" w="3887943">
                <a:moveTo>
                  <a:pt x="0" y="0"/>
                </a:moveTo>
                <a:lnTo>
                  <a:pt x="3887943" y="0"/>
                </a:lnTo>
                <a:lnTo>
                  <a:pt x="3887943" y="1173575"/>
                </a:lnTo>
                <a:lnTo>
                  <a:pt x="0" y="117357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219" r="0" b="-219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522850" y="6608007"/>
            <a:ext cx="3887943" cy="1173575"/>
          </a:xfrm>
          <a:custGeom>
            <a:avLst/>
            <a:gdLst/>
            <a:ahLst/>
            <a:cxnLst/>
            <a:rect r="r" b="b" t="t" l="l"/>
            <a:pathLst>
              <a:path h="1173575" w="3887943">
                <a:moveTo>
                  <a:pt x="0" y="0"/>
                </a:moveTo>
                <a:lnTo>
                  <a:pt x="3887943" y="0"/>
                </a:lnTo>
                <a:lnTo>
                  <a:pt x="3887943" y="1173575"/>
                </a:lnTo>
                <a:lnTo>
                  <a:pt x="0" y="117357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219" r="0" b="-219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551321" y="3732171"/>
            <a:ext cx="2951597" cy="33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3"/>
              </a:lnSpc>
            </a:pPr>
            <a:r>
              <a:rPr lang="en-US" sz="2798" spc="-111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프로젝트 기간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551321" y="6033516"/>
            <a:ext cx="2951597" cy="33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3"/>
              </a:lnSpc>
            </a:pPr>
            <a:r>
              <a:rPr lang="en-US" sz="2798" spc="-111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개발 툴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551321" y="4884496"/>
            <a:ext cx="2951597" cy="33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3"/>
              </a:lnSpc>
            </a:pPr>
            <a:r>
              <a:rPr lang="en-US" sz="2798" spc="-111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OS 및 DB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551321" y="7182536"/>
            <a:ext cx="2951597" cy="33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3"/>
              </a:lnSpc>
            </a:pPr>
            <a:r>
              <a:rPr lang="en-US" sz="2798" spc="-111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언어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836094" y="3420485"/>
            <a:ext cx="7483164" cy="600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7"/>
              </a:lnSpc>
            </a:pPr>
            <a:r>
              <a:rPr lang="en-US" b="true" sz="2498" spc="-24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2026.08.21 ~ 2026.08.27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836094" y="4572810"/>
            <a:ext cx="7483164" cy="600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7"/>
              </a:lnSpc>
            </a:pPr>
            <a:r>
              <a:rPr lang="en-US" b="true" sz="2498" spc="-24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Windows 11, Oracle Cloud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836094" y="5721829"/>
            <a:ext cx="7483164" cy="600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7"/>
              </a:lnSpc>
            </a:pPr>
            <a:r>
              <a:rPr lang="en-US" b="true" sz="2498" spc="-24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Oracle SQL Developer, DataGrip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836094" y="6870849"/>
            <a:ext cx="7483164" cy="600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7"/>
              </a:lnSpc>
            </a:pPr>
            <a:r>
              <a:rPr lang="en-US" b="true" sz="2498" spc="-24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Oracle SQL, PL/SQL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32077" y="8174041"/>
            <a:ext cx="15216397" cy="401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1"/>
              </a:lnSpc>
            </a:pPr>
            <a:r>
              <a:rPr lang="en-US" sz="1898" spc="-18">
                <a:solidFill>
                  <a:srgbClr val="222222">
                    <a:alpha val="6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Oracle 기반 데이터베이스 프로젝트를 위한 개발 환경을 구성했습니다.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4208859" y="3722103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6"/>
                </a:lnTo>
                <a:lnTo>
                  <a:pt x="0" y="16832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832" t="0" r="-832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4208859" y="6023448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6"/>
                </a:lnTo>
                <a:lnTo>
                  <a:pt x="0" y="16832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832" t="0" r="-832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208859" y="4874428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6"/>
                </a:lnTo>
                <a:lnTo>
                  <a:pt x="0" y="16832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832" t="0" r="-832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4208859" y="7172468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6"/>
                </a:lnTo>
                <a:lnTo>
                  <a:pt x="0" y="16832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832" t="0" r="-832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7673818" y="233477"/>
            <a:ext cx="85658" cy="380705"/>
          </a:xfrm>
          <a:custGeom>
            <a:avLst/>
            <a:gdLst/>
            <a:ahLst/>
            <a:cxnLst/>
            <a:rect r="r" b="b" t="t" l="l"/>
            <a:pathLst>
              <a:path h="380705" w="85658">
                <a:moveTo>
                  <a:pt x="0" y="0"/>
                </a:moveTo>
                <a:lnTo>
                  <a:pt x="85659" y="0"/>
                </a:lnTo>
                <a:lnTo>
                  <a:pt x="85659" y="380705"/>
                </a:lnTo>
                <a:lnTo>
                  <a:pt x="0" y="380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559" t="0" r="-554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17637" y="1073391"/>
            <a:ext cx="5306244" cy="651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30"/>
              </a:lnSpc>
            </a:pPr>
            <a:r>
              <a:rPr lang="en-US" sz="6011" spc="-180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업무 분담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17287" y="2062162"/>
            <a:ext cx="17053417" cy="7607551"/>
          </a:xfrm>
          <a:custGeom>
            <a:avLst/>
            <a:gdLst/>
            <a:ahLst/>
            <a:cxnLst/>
            <a:rect r="r" b="b" t="t" l="l"/>
            <a:pathLst>
              <a:path h="7607551" w="17053417">
                <a:moveTo>
                  <a:pt x="0" y="0"/>
                </a:moveTo>
                <a:lnTo>
                  <a:pt x="17053417" y="0"/>
                </a:lnTo>
                <a:lnTo>
                  <a:pt x="17053417" y="7607551"/>
                </a:lnTo>
                <a:lnTo>
                  <a:pt x="0" y="76075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" r="0" b="-2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81075" y="1047750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4"/>
                </a:lnTo>
                <a:lnTo>
                  <a:pt x="0" y="3839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920610" y="2045218"/>
            <a:ext cx="281750" cy="894493"/>
            <a:chOff x="0" y="0"/>
            <a:chExt cx="375666" cy="11926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5666" cy="1192657"/>
            </a:xfrm>
            <a:custGeom>
              <a:avLst/>
              <a:gdLst/>
              <a:ahLst/>
              <a:cxnLst/>
              <a:rect r="r" b="b" t="t" l="l"/>
              <a:pathLst>
                <a:path h="1192657" w="375666">
                  <a:moveTo>
                    <a:pt x="0" y="0"/>
                  </a:moveTo>
                  <a:lnTo>
                    <a:pt x="375666" y="0"/>
                  </a:lnTo>
                  <a:lnTo>
                    <a:pt x="375666" y="1192657"/>
                  </a:lnTo>
                  <a:lnTo>
                    <a:pt x="0" y="119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67" t="0" r="-267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82278" y="2924175"/>
            <a:ext cx="3093244" cy="6223397"/>
          </a:xfrm>
          <a:custGeom>
            <a:avLst/>
            <a:gdLst/>
            <a:ahLst/>
            <a:cxnLst/>
            <a:rect r="r" b="b" t="t" l="l"/>
            <a:pathLst>
              <a:path h="6223397" w="3093244">
                <a:moveTo>
                  <a:pt x="0" y="0"/>
                </a:moveTo>
                <a:lnTo>
                  <a:pt x="3093244" y="0"/>
                </a:lnTo>
                <a:lnTo>
                  <a:pt x="3093244" y="6223397"/>
                </a:lnTo>
                <a:lnTo>
                  <a:pt x="0" y="622339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9" r="0" b="-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85850" y="2924175"/>
            <a:ext cx="3086100" cy="104775"/>
          </a:xfrm>
          <a:custGeom>
            <a:avLst/>
            <a:gdLst/>
            <a:ahLst/>
            <a:cxnLst/>
            <a:rect r="r" b="b" t="t" l="l"/>
            <a:pathLst>
              <a:path h="104775" w="3086100">
                <a:moveTo>
                  <a:pt x="0" y="0"/>
                </a:moveTo>
                <a:lnTo>
                  <a:pt x="3086100" y="0"/>
                </a:lnTo>
                <a:lnTo>
                  <a:pt x="3086100" y="104775"/>
                </a:ln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57300" y="3038475"/>
            <a:ext cx="2743200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김상준                         조장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57300" y="3733800"/>
            <a:ext cx="2743200" cy="3619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4F6FD8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역할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총괄/DB, 환경 구축</a:t>
            </a:r>
          </a:p>
          <a:p>
            <a:pPr algn="l">
              <a:lnSpc>
                <a:spcPts val="1439"/>
              </a:lnSpc>
            </a:pPr>
          </a:p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4F6FD8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DDL</a:t>
            </a:r>
          </a:p>
          <a:p>
            <a:pPr algn="l">
              <a:lnSpc>
                <a:spcPts val="1437"/>
              </a:lnSpc>
            </a:pPr>
            <a:r>
              <a:rPr lang="en-US" sz="120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학생 · 개설과목 · 출결 · 배점 · 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교사-과목매핑</a:t>
            </a:r>
          </a:p>
          <a:p>
            <a:pPr algn="l">
              <a:lnSpc>
                <a:spcPts val="1439"/>
              </a:lnSpc>
            </a:pPr>
          </a:p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4F6FD8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DML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강의실 6 · 과정코드 36 · 과목 101 · 관리자 5 · 분야 10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매핑 79 · 개설과목 52 · 공지 30 · 이력 36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출결 113,176</a:t>
            </a:r>
          </a:p>
          <a:p>
            <a:pPr algn="l">
              <a:lnSpc>
                <a:spcPts val="1439"/>
              </a:lnSpc>
            </a:pPr>
          </a:p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4F6FD8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쿼리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C-07~C-08 (교사)</a:t>
            </a:r>
          </a:p>
          <a:p>
            <a:pPr algn="l">
              <a:lnSpc>
                <a:spcPts val="1439"/>
              </a:lnSpc>
            </a:pPr>
          </a:p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4F6FD8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기타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  FK·ALTER 표준·동시성 문제 점검 · 트랜잭션 문제 점검· 데이터 무결성 및 인덱스 점검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전체 문서 통합 및 동시성 이슈 분석 공유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339828" y="2924175"/>
            <a:ext cx="3093244" cy="6223397"/>
          </a:xfrm>
          <a:custGeom>
            <a:avLst/>
            <a:gdLst/>
            <a:ahLst/>
            <a:cxnLst/>
            <a:rect r="r" b="b" t="t" l="l"/>
            <a:pathLst>
              <a:path h="6223397" w="3093244">
                <a:moveTo>
                  <a:pt x="0" y="0"/>
                </a:moveTo>
                <a:lnTo>
                  <a:pt x="3093244" y="0"/>
                </a:lnTo>
                <a:lnTo>
                  <a:pt x="3093244" y="6223397"/>
                </a:lnTo>
                <a:lnTo>
                  <a:pt x="0" y="622339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9" r="0" b="-9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343400" y="2924175"/>
            <a:ext cx="3086100" cy="104775"/>
          </a:xfrm>
          <a:custGeom>
            <a:avLst/>
            <a:gdLst/>
            <a:ahLst/>
            <a:cxnLst/>
            <a:rect r="r" b="b" t="t" l="l"/>
            <a:pathLst>
              <a:path h="104775" w="3086100">
                <a:moveTo>
                  <a:pt x="0" y="0"/>
                </a:moveTo>
                <a:lnTo>
                  <a:pt x="3086100" y="0"/>
                </a:lnTo>
                <a:lnTo>
                  <a:pt x="3086100" y="104775"/>
                </a:ln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514850" y="3038475"/>
            <a:ext cx="27432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최유빈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514850" y="3733800"/>
            <a:ext cx="2743200" cy="2895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4F6FD8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역할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초기 세팅, 요구사항 정의서 공유</a:t>
            </a:r>
          </a:p>
          <a:p>
            <a:pPr algn="l">
              <a:lnSpc>
                <a:spcPts val="1439"/>
              </a:lnSpc>
            </a:pPr>
          </a:p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4F6FD8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DDL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과정코드 · 강의실 · 과목 · 성적 · 개설과정</a:t>
            </a:r>
          </a:p>
          <a:p>
            <a:pPr algn="l">
              <a:lnSpc>
                <a:spcPts val="1439"/>
              </a:lnSpc>
            </a:pPr>
          </a:p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4F6FD8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DML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교재 42 · 소모임 10 · 모임원 50</a:t>
            </a:r>
          </a:p>
          <a:p>
            <a:pPr algn="l">
              <a:lnSpc>
                <a:spcPts val="1439"/>
              </a:lnSpc>
            </a:pPr>
          </a:p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4F6FD8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쿼리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B-01~B-04 (관리자)</a:t>
            </a:r>
          </a:p>
          <a:p>
            <a:pPr algn="l">
              <a:lnSpc>
                <a:spcPts val="1439"/>
              </a:lnSpc>
            </a:pPr>
          </a:p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4F6FD8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기타</a:t>
            </a:r>
          </a:p>
          <a:p>
            <a:pPr algn="l">
              <a:lnSpc>
                <a:spcPts val="1437"/>
              </a:lnSpc>
            </a:pPr>
            <a:r>
              <a:rPr lang="en-US" sz="120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 PK·제약조건 수정</a:t>
            </a:r>
          </a:p>
          <a:p>
            <a:pPr algn="l">
              <a:lnSpc>
                <a:spcPts val="1437"/>
              </a:lnSpc>
            </a:pPr>
            <a:r>
              <a:rPr lang="en-US" sz="120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· PPT제작·발표</a:t>
            </a:r>
          </a:p>
          <a:p>
            <a:pPr algn="l">
              <a:lnSpc>
                <a:spcPts val="1439"/>
              </a:lnSpc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7597378" y="2924175"/>
            <a:ext cx="3093244" cy="6223397"/>
          </a:xfrm>
          <a:custGeom>
            <a:avLst/>
            <a:gdLst/>
            <a:ahLst/>
            <a:cxnLst/>
            <a:rect r="r" b="b" t="t" l="l"/>
            <a:pathLst>
              <a:path h="6223397" w="3093244">
                <a:moveTo>
                  <a:pt x="0" y="0"/>
                </a:moveTo>
                <a:lnTo>
                  <a:pt x="3093244" y="0"/>
                </a:lnTo>
                <a:lnTo>
                  <a:pt x="3093244" y="6223397"/>
                </a:lnTo>
                <a:lnTo>
                  <a:pt x="0" y="622339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9" r="0" b="-9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600950" y="2924175"/>
            <a:ext cx="3086100" cy="104775"/>
          </a:xfrm>
          <a:custGeom>
            <a:avLst/>
            <a:gdLst/>
            <a:ahLst/>
            <a:cxnLst/>
            <a:rect r="r" b="b" t="t" l="l"/>
            <a:pathLst>
              <a:path h="104775" w="3086100">
                <a:moveTo>
                  <a:pt x="0" y="0"/>
                </a:moveTo>
                <a:lnTo>
                  <a:pt x="3086100" y="0"/>
                </a:lnTo>
                <a:lnTo>
                  <a:pt x="3086100" y="104775"/>
                </a:ln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772400" y="3038475"/>
            <a:ext cx="27432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김요한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772400" y="3733800"/>
            <a:ext cx="2743200" cy="307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4F6FD8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역할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관리자 파트 순서도·요구사항 관리</a:t>
            </a:r>
          </a:p>
          <a:p>
            <a:pPr algn="l">
              <a:lnSpc>
                <a:spcPts val="1439"/>
              </a:lnSpc>
            </a:pPr>
          </a:p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4F6FD8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DDL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관리자 · 교사 · 교재 · 수강등록</a:t>
            </a:r>
          </a:p>
          <a:p>
            <a:pPr algn="l">
              <a:lnSpc>
                <a:spcPts val="1439"/>
              </a:lnSpc>
            </a:pPr>
          </a:p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4F6FD8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DML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교육생 168 · 수강등록 · 배점 44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질문 40 · 답변 28</a:t>
            </a:r>
          </a:p>
          <a:p>
            <a:pPr algn="l">
              <a:lnSpc>
                <a:spcPts val="1439"/>
              </a:lnSpc>
            </a:pPr>
          </a:p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4F6FD8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쿼리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B-05~B-08 (관리자)</a:t>
            </a:r>
          </a:p>
          <a:p>
            <a:pPr algn="l">
              <a:lnSpc>
                <a:spcPts val="1439"/>
              </a:lnSpc>
            </a:pPr>
          </a:p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4F6FD8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기타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출결 · 배점 · 성적 기능 구상·동시성 문제 점검 · 트랜잭션 문제 점검· 데이터 무결성 및 인덱스 점검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0858500" y="2924175"/>
            <a:ext cx="3086100" cy="104775"/>
          </a:xfrm>
          <a:custGeom>
            <a:avLst/>
            <a:gdLst/>
            <a:ahLst/>
            <a:cxnLst/>
            <a:rect r="r" b="b" t="t" l="l"/>
            <a:pathLst>
              <a:path h="104775" w="3086100">
                <a:moveTo>
                  <a:pt x="0" y="0"/>
                </a:moveTo>
                <a:lnTo>
                  <a:pt x="3086100" y="0"/>
                </a:lnTo>
                <a:lnTo>
                  <a:pt x="3086100" y="104775"/>
                </a:ln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1029950" y="3038475"/>
            <a:ext cx="27432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이동희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029950" y="3733800"/>
            <a:ext cx="2743200" cy="2714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4F6FD8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역할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교사 순서도</a:t>
            </a:r>
          </a:p>
          <a:p>
            <a:pPr algn="l">
              <a:lnSpc>
                <a:spcPts val="1439"/>
              </a:lnSpc>
            </a:pPr>
          </a:p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4F6FD8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DDL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질문 · 답변 · 공지사항 · 강의이력조회</a:t>
            </a:r>
          </a:p>
          <a:p>
            <a:pPr algn="l">
              <a:lnSpc>
                <a:spcPts val="1439"/>
              </a:lnSpc>
            </a:pPr>
          </a:p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4F6FD8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DML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교사 10 · 개설과정 36 · 성적</a:t>
            </a:r>
          </a:p>
          <a:p>
            <a:pPr algn="l">
              <a:lnSpc>
                <a:spcPts val="1439"/>
              </a:lnSpc>
            </a:pPr>
          </a:p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4F6FD8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쿼리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C-01 · C-02 · C-06 작성</a:t>
            </a:r>
          </a:p>
          <a:p>
            <a:pPr algn="l">
              <a:lnSpc>
                <a:spcPts val="1439"/>
              </a:lnSpc>
            </a:pPr>
          </a:p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4F6FD8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기타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PK·제약조건 수정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· PPT제작·발표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4112478" y="2924175"/>
            <a:ext cx="3093244" cy="6223397"/>
          </a:xfrm>
          <a:custGeom>
            <a:avLst/>
            <a:gdLst/>
            <a:ahLst/>
            <a:cxnLst/>
            <a:rect r="r" b="b" t="t" l="l"/>
            <a:pathLst>
              <a:path h="6223397" w="3093244">
                <a:moveTo>
                  <a:pt x="0" y="0"/>
                </a:moveTo>
                <a:lnTo>
                  <a:pt x="3093244" y="0"/>
                </a:lnTo>
                <a:lnTo>
                  <a:pt x="3093244" y="6223397"/>
                </a:lnTo>
                <a:lnTo>
                  <a:pt x="0" y="622339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9" r="0" b="-9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4116050" y="2924175"/>
            <a:ext cx="3086100" cy="104775"/>
          </a:xfrm>
          <a:custGeom>
            <a:avLst/>
            <a:gdLst/>
            <a:ahLst/>
            <a:cxnLst/>
            <a:rect r="r" b="b" t="t" l="l"/>
            <a:pathLst>
              <a:path h="104775" w="3086100">
                <a:moveTo>
                  <a:pt x="0" y="0"/>
                </a:moveTo>
                <a:lnTo>
                  <a:pt x="3086100" y="0"/>
                </a:lnTo>
                <a:lnTo>
                  <a:pt x="3086100" y="104775"/>
                </a:ln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4287500" y="3038475"/>
            <a:ext cx="27432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권익성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287500" y="3733800"/>
            <a:ext cx="2743200" cy="307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4F6FD8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역할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교육생 요구분석서·순서도 작성</a:t>
            </a:r>
          </a:p>
          <a:p>
            <a:pPr algn="l">
              <a:lnSpc>
                <a:spcPts val="1439"/>
              </a:lnSpc>
            </a:pPr>
          </a:p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4F6FD8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DDL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소모임 · 모임원 · 상담일지 · 교사평가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분야 · 취업</a:t>
            </a:r>
          </a:p>
          <a:p>
            <a:pPr algn="l">
              <a:lnSpc>
                <a:spcPts val="1439"/>
              </a:lnSpc>
            </a:pPr>
          </a:p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4F6FD8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DML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상담일지 20 · 교사평가 20 · 취업 30</a:t>
            </a:r>
          </a:p>
          <a:p>
            <a:pPr algn="l">
              <a:lnSpc>
                <a:spcPts val="1439"/>
              </a:lnSpc>
            </a:pPr>
          </a:p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4F6FD8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쿼리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D-04~D-06 (교육생)</a:t>
            </a:r>
          </a:p>
          <a:p>
            <a:pPr algn="l">
              <a:lnSpc>
                <a:spcPts val="1439"/>
              </a:lnSpc>
            </a:pPr>
          </a:p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4F6FD8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기타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테이블 정의서(DDL) 수정 및 공유·동시성 문제 점검 · 트랜잭션 문제 점검· 데이터 무결성 및 인덱스 점검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7673818" y="233477"/>
            <a:ext cx="85658" cy="380705"/>
          </a:xfrm>
          <a:custGeom>
            <a:avLst/>
            <a:gdLst/>
            <a:ahLst/>
            <a:cxnLst/>
            <a:rect r="r" b="b" t="t" l="l"/>
            <a:pathLst>
              <a:path h="380705" w="85658">
                <a:moveTo>
                  <a:pt x="0" y="0"/>
                </a:moveTo>
                <a:lnTo>
                  <a:pt x="85659" y="0"/>
                </a:lnTo>
                <a:lnTo>
                  <a:pt x="85659" y="380705"/>
                </a:lnTo>
                <a:lnTo>
                  <a:pt x="0" y="380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559" t="0" r="-554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15405" y="1382306"/>
            <a:ext cx="4937798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8"/>
              </a:lnSpc>
            </a:pPr>
            <a:r>
              <a:rPr lang="en-US" sz="1497" spc="-24">
                <a:solidFill>
                  <a:srgbClr val="222222">
                    <a:alpha val="52941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사용자 역할별 권한 및 주요 기능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17637" y="1073391"/>
            <a:ext cx="8535800" cy="651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30"/>
              </a:lnSpc>
            </a:pPr>
            <a:r>
              <a:rPr lang="en-US" sz="6011" spc="-180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요구분석 개요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17287" y="2062162"/>
            <a:ext cx="17053417" cy="7607551"/>
          </a:xfrm>
          <a:custGeom>
            <a:avLst/>
            <a:gdLst/>
            <a:ahLst/>
            <a:cxnLst/>
            <a:rect r="r" b="b" t="t" l="l"/>
            <a:pathLst>
              <a:path h="7607551" w="17053417">
                <a:moveTo>
                  <a:pt x="0" y="0"/>
                </a:moveTo>
                <a:lnTo>
                  <a:pt x="17053417" y="0"/>
                </a:lnTo>
                <a:lnTo>
                  <a:pt x="17053417" y="7607551"/>
                </a:lnTo>
                <a:lnTo>
                  <a:pt x="0" y="76075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" r="0" b="-2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81075" y="1047750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4"/>
                </a:lnTo>
                <a:lnTo>
                  <a:pt x="0" y="3839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920610" y="2045218"/>
            <a:ext cx="281750" cy="894493"/>
            <a:chOff x="0" y="0"/>
            <a:chExt cx="375666" cy="119265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75666" cy="1192657"/>
            </a:xfrm>
            <a:custGeom>
              <a:avLst/>
              <a:gdLst/>
              <a:ahLst/>
              <a:cxnLst/>
              <a:rect r="r" b="b" t="t" l="l"/>
              <a:pathLst>
                <a:path h="1192657" w="375666">
                  <a:moveTo>
                    <a:pt x="0" y="0"/>
                  </a:moveTo>
                  <a:lnTo>
                    <a:pt x="375666" y="0"/>
                  </a:lnTo>
                  <a:lnTo>
                    <a:pt x="375666" y="1192657"/>
                  </a:lnTo>
                  <a:lnTo>
                    <a:pt x="0" y="119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67" t="0" r="-267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681239" y="3186217"/>
            <a:ext cx="4877276" cy="5410248"/>
          </a:xfrm>
          <a:custGeom>
            <a:avLst/>
            <a:gdLst/>
            <a:ahLst/>
            <a:cxnLst/>
            <a:rect r="r" b="b" t="t" l="l"/>
            <a:pathLst>
              <a:path h="5410248" w="4877276">
                <a:moveTo>
                  <a:pt x="0" y="0"/>
                </a:moveTo>
                <a:lnTo>
                  <a:pt x="4877276" y="0"/>
                </a:lnTo>
                <a:lnTo>
                  <a:pt x="4877276" y="5410248"/>
                </a:lnTo>
                <a:lnTo>
                  <a:pt x="0" y="541024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02" t="0" r="-102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705362" y="3186217"/>
            <a:ext cx="4877276" cy="5410248"/>
          </a:xfrm>
          <a:custGeom>
            <a:avLst/>
            <a:gdLst/>
            <a:ahLst/>
            <a:cxnLst/>
            <a:rect r="r" b="b" t="t" l="l"/>
            <a:pathLst>
              <a:path h="5410248" w="4877276">
                <a:moveTo>
                  <a:pt x="0" y="0"/>
                </a:moveTo>
                <a:lnTo>
                  <a:pt x="4877276" y="0"/>
                </a:lnTo>
                <a:lnTo>
                  <a:pt x="4877276" y="5410248"/>
                </a:lnTo>
                <a:lnTo>
                  <a:pt x="0" y="541024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02" t="0" r="-102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752316" y="3186217"/>
            <a:ext cx="4877276" cy="5410248"/>
          </a:xfrm>
          <a:custGeom>
            <a:avLst/>
            <a:gdLst/>
            <a:ahLst/>
            <a:cxnLst/>
            <a:rect r="r" b="b" t="t" l="l"/>
            <a:pathLst>
              <a:path h="5410248" w="4877276">
                <a:moveTo>
                  <a:pt x="0" y="0"/>
                </a:moveTo>
                <a:lnTo>
                  <a:pt x="4877277" y="0"/>
                </a:lnTo>
                <a:lnTo>
                  <a:pt x="4877277" y="5410248"/>
                </a:lnTo>
                <a:lnTo>
                  <a:pt x="0" y="541024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02" t="0" r="-102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658113" y="6266307"/>
            <a:ext cx="3384452" cy="1190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8"/>
              </a:lnSpc>
            </a:pPr>
            <a:r>
              <a:rPr lang="en-US" sz="2097" spc="-17">
                <a:solidFill>
                  <a:srgbClr val="333333">
                    <a:alpha val="6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기초정보·교사계정관리·</a:t>
            </a:r>
          </a:p>
          <a:p>
            <a:pPr algn="l">
              <a:lnSpc>
                <a:spcPts val="3041"/>
              </a:lnSpc>
            </a:pPr>
            <a:r>
              <a:rPr lang="en-US" sz="2097" spc="-18">
                <a:solidFill>
                  <a:srgbClr val="333333">
                    <a:alpha val="6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개설 과목· 개설 과정·교육생   관리및 수강등록관리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682236" y="6266307"/>
            <a:ext cx="3384452" cy="80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8"/>
              </a:lnSpc>
            </a:pPr>
            <a:r>
              <a:rPr lang="en-US" sz="2097" spc="-17">
                <a:solidFill>
                  <a:srgbClr val="333333">
                    <a:alpha val="6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교사계정· 강의 스케줄 조회·</a:t>
            </a:r>
          </a:p>
          <a:p>
            <a:pPr algn="l">
              <a:lnSpc>
                <a:spcPts val="3041"/>
              </a:lnSpc>
            </a:pPr>
            <a:r>
              <a:rPr lang="en-US" sz="2097" spc="-18">
                <a:solidFill>
                  <a:srgbClr val="333333">
                    <a:alpha val="6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배점 입출력· 성적 입출력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48667" y="6647431"/>
            <a:ext cx="3384452" cy="809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1"/>
              </a:lnSpc>
            </a:pPr>
            <a:r>
              <a:rPr lang="en-US" sz="2097" spc="-18">
                <a:solidFill>
                  <a:srgbClr val="333333">
                    <a:alpha val="6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교육생 계정·성적·출결 조회·</a:t>
            </a:r>
          </a:p>
          <a:p>
            <a:pPr algn="l">
              <a:lnSpc>
                <a:spcPts val="3041"/>
              </a:lnSpc>
            </a:pPr>
            <a:r>
              <a:rPr lang="en-US" sz="2097" spc="-18">
                <a:solidFill>
                  <a:srgbClr val="333333">
                    <a:alpha val="6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상담일지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67629" y="7457132"/>
            <a:ext cx="3384452" cy="80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8"/>
              </a:lnSpc>
            </a:pPr>
            <a:r>
              <a:rPr lang="en-US" sz="2097" spc="-17">
                <a:solidFill>
                  <a:srgbClr val="333333">
                    <a:alpha val="6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시험관리 및 성적조회·</a:t>
            </a:r>
          </a:p>
          <a:p>
            <a:pPr algn="l">
              <a:lnSpc>
                <a:spcPts val="3041"/>
              </a:lnSpc>
            </a:pPr>
            <a:r>
              <a:rPr lang="en-US" sz="2097" spc="-18">
                <a:solidFill>
                  <a:srgbClr val="333333">
                    <a:alpha val="6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출결관리 및 출결 조회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682236" y="7218807"/>
            <a:ext cx="3384452" cy="4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1"/>
              </a:lnSpc>
            </a:pPr>
            <a:r>
              <a:rPr lang="en-US" sz="2097" spc="-18">
                <a:solidFill>
                  <a:srgbClr val="333333">
                    <a:alpha val="6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출결 관리 및 출결 조회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530650" y="4731629"/>
            <a:ext cx="3205610" cy="74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4"/>
              </a:lnSpc>
            </a:pPr>
            <a:r>
              <a:rPr lang="en-US" b="true" sz="2192" spc="-43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전체 권한 보유</a:t>
            </a:r>
          </a:p>
          <a:p>
            <a:pPr algn="ctr">
              <a:lnSpc>
                <a:spcPts val="2804"/>
              </a:lnSpc>
            </a:pPr>
            <a:r>
              <a:rPr lang="en-US" b="true" sz="2192" spc="-43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로그인 후 사용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14320" y="4750679"/>
            <a:ext cx="3286525" cy="747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6"/>
              </a:lnSpc>
            </a:pPr>
            <a:r>
              <a:rPr lang="en-US" b="true" sz="2247" spc="-44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강의 운영 및 평가 담당</a:t>
            </a:r>
          </a:p>
          <a:p>
            <a:pPr algn="ctr">
              <a:lnSpc>
                <a:spcPts val="2876"/>
              </a:lnSpc>
            </a:pPr>
            <a:r>
              <a:rPr lang="en-US" b="true" sz="2247" spc="-44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주요 업무 수행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35138" y="4750679"/>
            <a:ext cx="3289754" cy="748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8"/>
              </a:lnSpc>
            </a:pPr>
            <a:r>
              <a:rPr lang="en-US" b="true" sz="2249" spc="-44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개인 학습 정보 조회</a:t>
            </a:r>
          </a:p>
          <a:p>
            <a:pPr algn="ctr">
              <a:lnSpc>
                <a:spcPts val="2878"/>
              </a:lnSpc>
            </a:pPr>
            <a:r>
              <a:rPr lang="en-US" b="true" sz="2249" spc="-44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부가 기능 이용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2923470" y="3750221"/>
            <a:ext cx="2392813" cy="927440"/>
          </a:xfrm>
          <a:custGeom>
            <a:avLst/>
            <a:gdLst/>
            <a:ahLst/>
            <a:cxnLst/>
            <a:rect r="r" b="b" t="t" l="l"/>
            <a:pathLst>
              <a:path h="927440" w="2392813">
                <a:moveTo>
                  <a:pt x="0" y="0"/>
                </a:moveTo>
                <a:lnTo>
                  <a:pt x="2392814" y="0"/>
                </a:lnTo>
                <a:lnTo>
                  <a:pt x="2392814" y="927440"/>
                </a:lnTo>
                <a:lnTo>
                  <a:pt x="0" y="92744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167" r="0" b="-166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947593" y="3750221"/>
            <a:ext cx="2392813" cy="927440"/>
          </a:xfrm>
          <a:custGeom>
            <a:avLst/>
            <a:gdLst/>
            <a:ahLst/>
            <a:cxnLst/>
            <a:rect r="r" b="b" t="t" l="l"/>
            <a:pathLst>
              <a:path h="927440" w="2392813">
                <a:moveTo>
                  <a:pt x="0" y="0"/>
                </a:moveTo>
                <a:lnTo>
                  <a:pt x="2392814" y="0"/>
                </a:lnTo>
                <a:lnTo>
                  <a:pt x="2392814" y="927440"/>
                </a:lnTo>
                <a:lnTo>
                  <a:pt x="0" y="92744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167" r="0" b="-166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994548" y="3750221"/>
            <a:ext cx="2392813" cy="927440"/>
          </a:xfrm>
          <a:custGeom>
            <a:avLst/>
            <a:gdLst/>
            <a:ahLst/>
            <a:cxnLst/>
            <a:rect r="r" b="b" t="t" l="l"/>
            <a:pathLst>
              <a:path h="927440" w="2392813">
                <a:moveTo>
                  <a:pt x="0" y="0"/>
                </a:moveTo>
                <a:lnTo>
                  <a:pt x="2392813" y="0"/>
                </a:lnTo>
                <a:lnTo>
                  <a:pt x="2392813" y="927440"/>
                </a:lnTo>
                <a:lnTo>
                  <a:pt x="0" y="92744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167" r="0" b="-166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124256" y="4235253"/>
            <a:ext cx="4018397" cy="26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5"/>
              </a:lnSpc>
            </a:pPr>
            <a:r>
              <a:rPr lang="en-US" sz="2397" spc="-94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관리자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148379" y="4235253"/>
            <a:ext cx="4018397" cy="26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5"/>
              </a:lnSpc>
            </a:pPr>
            <a:r>
              <a:rPr lang="en-US" sz="2397" spc="-94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교사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195334" y="4235253"/>
            <a:ext cx="4018397" cy="26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5"/>
              </a:lnSpc>
            </a:pPr>
            <a:r>
              <a:rPr lang="en-US" sz="2397" spc="-94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교육생</a:t>
            </a:r>
          </a:p>
        </p:txBody>
      </p:sp>
      <p:sp>
        <p:nvSpPr>
          <p:cNvPr name="AutoShape 26" id="26"/>
          <p:cNvSpPr/>
          <p:nvPr/>
        </p:nvSpPr>
        <p:spPr>
          <a:xfrm rot="16860">
            <a:off x="2178063" y="6023420"/>
            <a:ext cx="3883628" cy="0"/>
          </a:xfrm>
          <a:prstGeom prst="line">
            <a:avLst/>
          </a:prstGeom>
          <a:ln cap="rnd" w="19050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rot="16860">
            <a:off x="7202195" y="6023420"/>
            <a:ext cx="3883628" cy="0"/>
          </a:xfrm>
          <a:prstGeom prst="line">
            <a:avLst/>
          </a:prstGeom>
          <a:ln cap="rnd" w="19050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rot="16860">
            <a:off x="12249150" y="6023420"/>
            <a:ext cx="3883628" cy="0"/>
          </a:xfrm>
          <a:prstGeom prst="line">
            <a:avLst/>
          </a:prstGeom>
          <a:ln cap="rnd" w="19050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9" id="29"/>
          <p:cNvSpPr/>
          <p:nvPr/>
        </p:nvSpPr>
        <p:spPr>
          <a:xfrm flipH="false" flipV="false" rot="0">
            <a:off x="2385374" y="6508366"/>
            <a:ext cx="187004" cy="142589"/>
          </a:xfrm>
          <a:custGeom>
            <a:avLst/>
            <a:gdLst/>
            <a:ahLst/>
            <a:cxnLst/>
            <a:rect r="r" b="b" t="t" l="l"/>
            <a:pathLst>
              <a:path h="142589" w="187004">
                <a:moveTo>
                  <a:pt x="0" y="0"/>
                </a:moveTo>
                <a:lnTo>
                  <a:pt x="187005" y="0"/>
                </a:lnTo>
                <a:lnTo>
                  <a:pt x="187005" y="142589"/>
                </a:lnTo>
                <a:lnTo>
                  <a:pt x="0" y="14258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830" t="0" r="-835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7409507" y="6508366"/>
            <a:ext cx="187004" cy="142589"/>
          </a:xfrm>
          <a:custGeom>
            <a:avLst/>
            <a:gdLst/>
            <a:ahLst/>
            <a:cxnLst/>
            <a:rect r="r" b="b" t="t" l="l"/>
            <a:pathLst>
              <a:path h="142589" w="187004">
                <a:moveTo>
                  <a:pt x="0" y="0"/>
                </a:moveTo>
                <a:lnTo>
                  <a:pt x="187004" y="0"/>
                </a:lnTo>
                <a:lnTo>
                  <a:pt x="187004" y="142589"/>
                </a:lnTo>
                <a:lnTo>
                  <a:pt x="0" y="14258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830" t="0" r="-835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2375937" y="6889490"/>
            <a:ext cx="187004" cy="142589"/>
          </a:xfrm>
          <a:custGeom>
            <a:avLst/>
            <a:gdLst/>
            <a:ahLst/>
            <a:cxnLst/>
            <a:rect r="r" b="b" t="t" l="l"/>
            <a:pathLst>
              <a:path h="142589" w="187004">
                <a:moveTo>
                  <a:pt x="0" y="0"/>
                </a:moveTo>
                <a:lnTo>
                  <a:pt x="187005" y="0"/>
                </a:lnTo>
                <a:lnTo>
                  <a:pt x="187005" y="142589"/>
                </a:lnTo>
                <a:lnTo>
                  <a:pt x="0" y="14258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830" t="0" r="-835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2343645" y="7847838"/>
            <a:ext cx="187004" cy="142589"/>
          </a:xfrm>
          <a:custGeom>
            <a:avLst/>
            <a:gdLst/>
            <a:ahLst/>
            <a:cxnLst/>
            <a:rect r="r" b="b" t="t" l="l"/>
            <a:pathLst>
              <a:path h="142589" w="187004">
                <a:moveTo>
                  <a:pt x="0" y="0"/>
                </a:moveTo>
                <a:lnTo>
                  <a:pt x="187005" y="0"/>
                </a:lnTo>
                <a:lnTo>
                  <a:pt x="187005" y="142589"/>
                </a:lnTo>
                <a:lnTo>
                  <a:pt x="0" y="14258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830" t="0" r="-835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7409507" y="7463714"/>
            <a:ext cx="187004" cy="142589"/>
          </a:xfrm>
          <a:custGeom>
            <a:avLst/>
            <a:gdLst/>
            <a:ahLst/>
            <a:cxnLst/>
            <a:rect r="r" b="b" t="t" l="l"/>
            <a:pathLst>
              <a:path h="142589" w="187004">
                <a:moveTo>
                  <a:pt x="0" y="0"/>
                </a:moveTo>
                <a:lnTo>
                  <a:pt x="187004" y="0"/>
                </a:lnTo>
                <a:lnTo>
                  <a:pt x="187004" y="142589"/>
                </a:lnTo>
                <a:lnTo>
                  <a:pt x="0" y="14258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830" t="0" r="-835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7673818" y="233477"/>
            <a:ext cx="85658" cy="380705"/>
          </a:xfrm>
          <a:custGeom>
            <a:avLst/>
            <a:gdLst/>
            <a:ahLst/>
            <a:cxnLst/>
            <a:rect r="r" b="b" t="t" l="l"/>
            <a:pathLst>
              <a:path h="380705" w="85658">
                <a:moveTo>
                  <a:pt x="0" y="0"/>
                </a:moveTo>
                <a:lnTo>
                  <a:pt x="85659" y="0"/>
                </a:lnTo>
                <a:lnTo>
                  <a:pt x="85659" y="380705"/>
                </a:lnTo>
                <a:lnTo>
                  <a:pt x="0" y="380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559" t="0" r="-554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17637" y="1073391"/>
            <a:ext cx="5306244" cy="651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30"/>
              </a:lnSpc>
            </a:pPr>
            <a:r>
              <a:rPr lang="en-US" sz="6011" spc="-180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추가 기능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26812" y="2062162"/>
            <a:ext cx="17053417" cy="7607551"/>
          </a:xfrm>
          <a:custGeom>
            <a:avLst/>
            <a:gdLst/>
            <a:ahLst/>
            <a:cxnLst/>
            <a:rect r="r" b="b" t="t" l="l"/>
            <a:pathLst>
              <a:path h="7607551" w="17053417">
                <a:moveTo>
                  <a:pt x="0" y="0"/>
                </a:moveTo>
                <a:lnTo>
                  <a:pt x="17053417" y="0"/>
                </a:lnTo>
                <a:lnTo>
                  <a:pt x="17053417" y="7607551"/>
                </a:lnTo>
                <a:lnTo>
                  <a:pt x="0" y="76075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" r="0" b="-2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81075" y="1047750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4"/>
                </a:lnTo>
                <a:lnTo>
                  <a:pt x="0" y="3839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920610" y="2045218"/>
            <a:ext cx="281750" cy="894493"/>
            <a:chOff x="0" y="0"/>
            <a:chExt cx="375666" cy="11926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5666" cy="1192657"/>
            </a:xfrm>
            <a:custGeom>
              <a:avLst/>
              <a:gdLst/>
              <a:ahLst/>
              <a:cxnLst/>
              <a:rect r="r" b="b" t="t" l="l"/>
              <a:pathLst>
                <a:path h="1192657" w="375666">
                  <a:moveTo>
                    <a:pt x="0" y="0"/>
                  </a:moveTo>
                  <a:lnTo>
                    <a:pt x="375666" y="0"/>
                  </a:lnTo>
                  <a:lnTo>
                    <a:pt x="375666" y="1192657"/>
                  </a:lnTo>
                  <a:lnTo>
                    <a:pt x="0" y="119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67" t="0" r="-267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4524632" y="4239406"/>
            <a:ext cx="4250617" cy="1247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1"/>
              </a:lnSpc>
            </a:pPr>
            <a:r>
              <a:rPr lang="en-US" sz="2097" spc="-18">
                <a:solidFill>
                  <a:srgbClr val="333333">
                    <a:alpha val="6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교육생과 교사가 질문과 답변을 주고받으며 학습 및 운영 관련 궁금증을 해결합니다.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24632" y="7027212"/>
            <a:ext cx="4250617" cy="866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1"/>
              </a:lnSpc>
            </a:pPr>
            <a:r>
              <a:rPr lang="en-US" sz="2097" spc="-18">
                <a:solidFill>
                  <a:srgbClr val="333333">
                    <a:alpha val="6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상담 일지를 관리하고 관심사가 같은 교육생의 소모임 활동을 지원합니다.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42809" y="4239406"/>
            <a:ext cx="4250617" cy="1247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1"/>
              </a:lnSpc>
            </a:pPr>
            <a:r>
              <a:rPr lang="en-US" sz="2097" spc="-18">
                <a:solidFill>
                  <a:srgbClr val="333333">
                    <a:alpha val="6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과정별 주요 일정과 안내사항을 공유하여 교육생에게 필요한 정보를 효과적으로 전달합니다.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42809" y="7027212"/>
            <a:ext cx="4250617" cy="866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1"/>
              </a:lnSpc>
            </a:pPr>
            <a:r>
              <a:rPr lang="en-US" sz="2097" spc="-18">
                <a:solidFill>
                  <a:srgbClr val="333333">
                    <a:alpha val="6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강의 이력을 조회하고 교사 평가 및 교육생 취업 현황을 체계적으로 관리합니다.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917176" y="3810029"/>
            <a:ext cx="3624815" cy="38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3"/>
              </a:lnSpc>
            </a:pPr>
            <a:r>
              <a:rPr lang="en-US" sz="3297" spc="-131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Q&amp;A 게시판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917176" y="6597834"/>
            <a:ext cx="3624815" cy="38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3"/>
              </a:lnSpc>
            </a:pPr>
            <a:r>
              <a:rPr lang="en-US" sz="3297" spc="-131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상담·소모임 기능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35354" y="3810029"/>
            <a:ext cx="3624815" cy="38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3"/>
              </a:lnSpc>
            </a:pPr>
            <a:r>
              <a:rPr lang="en-US" sz="3297" spc="-131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과정별 공지사항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735354" y="6597834"/>
            <a:ext cx="3624815" cy="38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3"/>
              </a:lnSpc>
            </a:pPr>
            <a:r>
              <a:rPr lang="en-US" sz="3297" spc="-131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강의 이력·취업 관리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684010" y="3186217"/>
            <a:ext cx="2444839" cy="2622442"/>
          </a:xfrm>
          <a:custGeom>
            <a:avLst/>
            <a:gdLst/>
            <a:ahLst/>
            <a:cxnLst/>
            <a:rect r="r" b="b" t="t" l="l"/>
            <a:pathLst>
              <a:path h="2622442" w="2444839">
                <a:moveTo>
                  <a:pt x="0" y="0"/>
                </a:moveTo>
                <a:lnTo>
                  <a:pt x="2444839" y="0"/>
                </a:lnTo>
                <a:lnTo>
                  <a:pt x="2444839" y="2622442"/>
                </a:lnTo>
                <a:lnTo>
                  <a:pt x="0" y="262244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59" r="0" b="-59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84010" y="5974023"/>
            <a:ext cx="2444839" cy="2622442"/>
          </a:xfrm>
          <a:custGeom>
            <a:avLst/>
            <a:gdLst/>
            <a:ahLst/>
            <a:cxnLst/>
            <a:rect r="r" b="b" t="t" l="l"/>
            <a:pathLst>
              <a:path h="2622442" w="2444839">
                <a:moveTo>
                  <a:pt x="0" y="0"/>
                </a:moveTo>
                <a:lnTo>
                  <a:pt x="2444839" y="0"/>
                </a:lnTo>
                <a:lnTo>
                  <a:pt x="2444839" y="2622442"/>
                </a:lnTo>
                <a:lnTo>
                  <a:pt x="0" y="262244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59" r="0" b="-59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502188" y="3186217"/>
            <a:ext cx="2444839" cy="2622442"/>
          </a:xfrm>
          <a:custGeom>
            <a:avLst/>
            <a:gdLst/>
            <a:ahLst/>
            <a:cxnLst/>
            <a:rect r="r" b="b" t="t" l="l"/>
            <a:pathLst>
              <a:path h="2622442" w="2444839">
                <a:moveTo>
                  <a:pt x="0" y="0"/>
                </a:moveTo>
                <a:lnTo>
                  <a:pt x="2444839" y="0"/>
                </a:lnTo>
                <a:lnTo>
                  <a:pt x="2444839" y="2622442"/>
                </a:lnTo>
                <a:lnTo>
                  <a:pt x="0" y="262244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59" r="0" b="-59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502188" y="5974023"/>
            <a:ext cx="2444839" cy="2622442"/>
          </a:xfrm>
          <a:custGeom>
            <a:avLst/>
            <a:gdLst/>
            <a:ahLst/>
            <a:cxnLst/>
            <a:rect r="r" b="b" t="t" l="l"/>
            <a:pathLst>
              <a:path h="2622442" w="2444839">
                <a:moveTo>
                  <a:pt x="0" y="0"/>
                </a:moveTo>
                <a:lnTo>
                  <a:pt x="2444839" y="0"/>
                </a:lnTo>
                <a:lnTo>
                  <a:pt x="2444839" y="2622442"/>
                </a:lnTo>
                <a:lnTo>
                  <a:pt x="0" y="262244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59" r="0" b="-59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2452859" y="4111990"/>
            <a:ext cx="907142" cy="901475"/>
          </a:xfrm>
          <a:custGeom>
            <a:avLst/>
            <a:gdLst/>
            <a:ahLst/>
            <a:cxnLst/>
            <a:rect r="r" b="b" t="t" l="l"/>
            <a:pathLst>
              <a:path h="901475" w="907142">
                <a:moveTo>
                  <a:pt x="0" y="0"/>
                </a:moveTo>
                <a:lnTo>
                  <a:pt x="907142" y="0"/>
                </a:lnTo>
                <a:lnTo>
                  <a:pt x="907142" y="901475"/>
                </a:lnTo>
                <a:lnTo>
                  <a:pt x="0" y="90147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211" t="0" r="-21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4524632" y="3840309"/>
            <a:ext cx="270396" cy="206178"/>
          </a:xfrm>
          <a:custGeom>
            <a:avLst/>
            <a:gdLst/>
            <a:ahLst/>
            <a:cxnLst/>
            <a:rect r="r" b="b" t="t" l="l"/>
            <a:pathLst>
              <a:path h="206178" w="270396">
                <a:moveTo>
                  <a:pt x="0" y="0"/>
                </a:moveTo>
                <a:lnTo>
                  <a:pt x="270396" y="0"/>
                </a:lnTo>
                <a:lnTo>
                  <a:pt x="270396" y="206178"/>
                </a:lnTo>
                <a:lnTo>
                  <a:pt x="0" y="20617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-257" t="0" r="-253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4524632" y="6628124"/>
            <a:ext cx="270396" cy="206178"/>
          </a:xfrm>
          <a:custGeom>
            <a:avLst/>
            <a:gdLst/>
            <a:ahLst/>
            <a:cxnLst/>
            <a:rect r="r" b="b" t="t" l="l"/>
            <a:pathLst>
              <a:path h="206178" w="270396">
                <a:moveTo>
                  <a:pt x="0" y="0"/>
                </a:moveTo>
                <a:lnTo>
                  <a:pt x="270396" y="0"/>
                </a:lnTo>
                <a:lnTo>
                  <a:pt x="270396" y="206178"/>
                </a:lnTo>
                <a:lnTo>
                  <a:pt x="0" y="20617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-257" t="0" r="-253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342809" y="3840309"/>
            <a:ext cx="270396" cy="206178"/>
          </a:xfrm>
          <a:custGeom>
            <a:avLst/>
            <a:gdLst/>
            <a:ahLst/>
            <a:cxnLst/>
            <a:rect r="r" b="b" t="t" l="l"/>
            <a:pathLst>
              <a:path h="206178" w="270396">
                <a:moveTo>
                  <a:pt x="0" y="0"/>
                </a:moveTo>
                <a:lnTo>
                  <a:pt x="270396" y="0"/>
                </a:lnTo>
                <a:lnTo>
                  <a:pt x="270396" y="206178"/>
                </a:lnTo>
                <a:lnTo>
                  <a:pt x="0" y="20617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-257" t="0" r="-253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342809" y="6628124"/>
            <a:ext cx="270396" cy="206178"/>
          </a:xfrm>
          <a:custGeom>
            <a:avLst/>
            <a:gdLst/>
            <a:ahLst/>
            <a:cxnLst/>
            <a:rect r="r" b="b" t="t" l="l"/>
            <a:pathLst>
              <a:path h="206178" w="270396">
                <a:moveTo>
                  <a:pt x="0" y="0"/>
                </a:moveTo>
                <a:lnTo>
                  <a:pt x="270396" y="0"/>
                </a:lnTo>
                <a:lnTo>
                  <a:pt x="270396" y="206178"/>
                </a:lnTo>
                <a:lnTo>
                  <a:pt x="0" y="20617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-257" t="0" r="-253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250253" y="4111990"/>
            <a:ext cx="978237" cy="930545"/>
          </a:xfrm>
          <a:custGeom>
            <a:avLst/>
            <a:gdLst/>
            <a:ahLst/>
            <a:cxnLst/>
            <a:rect r="r" b="b" t="t" l="l"/>
            <a:pathLst>
              <a:path h="930545" w="978237">
                <a:moveTo>
                  <a:pt x="0" y="0"/>
                </a:moveTo>
                <a:lnTo>
                  <a:pt x="978236" y="0"/>
                </a:lnTo>
                <a:lnTo>
                  <a:pt x="978236" y="930545"/>
                </a:lnTo>
                <a:lnTo>
                  <a:pt x="0" y="93054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-11" r="0" b="-11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2452859" y="6834302"/>
            <a:ext cx="907142" cy="1025014"/>
          </a:xfrm>
          <a:custGeom>
            <a:avLst/>
            <a:gdLst/>
            <a:ahLst/>
            <a:cxnLst/>
            <a:rect r="r" b="b" t="t" l="l"/>
            <a:pathLst>
              <a:path h="1025014" w="907142">
                <a:moveTo>
                  <a:pt x="0" y="0"/>
                </a:moveTo>
                <a:lnTo>
                  <a:pt x="907142" y="0"/>
                </a:lnTo>
                <a:lnTo>
                  <a:pt x="907142" y="1025014"/>
                </a:lnTo>
                <a:lnTo>
                  <a:pt x="0" y="1025014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-219" t="0" r="-219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0250253" y="6872926"/>
            <a:ext cx="1010088" cy="930545"/>
          </a:xfrm>
          <a:custGeom>
            <a:avLst/>
            <a:gdLst/>
            <a:ahLst/>
            <a:cxnLst/>
            <a:rect r="r" b="b" t="t" l="l"/>
            <a:pathLst>
              <a:path h="930545" w="1010088">
                <a:moveTo>
                  <a:pt x="0" y="0"/>
                </a:moveTo>
                <a:lnTo>
                  <a:pt x="1010088" y="0"/>
                </a:lnTo>
                <a:lnTo>
                  <a:pt x="1010088" y="930545"/>
                </a:lnTo>
                <a:lnTo>
                  <a:pt x="0" y="93054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-293" t="0" r="-292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4013" y="644776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4"/>
                </a:lnTo>
                <a:lnTo>
                  <a:pt x="0" y="383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483876"/>
            <a:ext cx="17053417" cy="7624496"/>
            <a:chOff x="0" y="0"/>
            <a:chExt cx="22737890" cy="101659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22593"/>
              <a:ext cx="22737890" cy="10143401"/>
            </a:xfrm>
            <a:custGeom>
              <a:avLst/>
              <a:gdLst/>
              <a:ahLst/>
              <a:cxnLst/>
              <a:rect r="r" b="b" t="t" l="l"/>
              <a:pathLst>
                <a:path h="10143401" w="22737890">
                  <a:moveTo>
                    <a:pt x="0" y="0"/>
                  </a:moveTo>
                  <a:lnTo>
                    <a:pt x="22737890" y="0"/>
                  </a:lnTo>
                  <a:lnTo>
                    <a:pt x="22737890" y="10143401"/>
                  </a:lnTo>
                  <a:lnTo>
                    <a:pt x="0" y="101434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-2" r="0" b="-2"/>
              </a:stretch>
            </a:blipFill>
          </p:spPr>
        </p:sp>
        <p:grpSp>
          <p:nvGrpSpPr>
            <p:cNvPr name="Group 5" id="5"/>
            <p:cNvGrpSpPr/>
            <p:nvPr/>
          </p:nvGrpSpPr>
          <p:grpSpPr>
            <a:xfrm rot="0">
              <a:off x="21725064" y="0"/>
              <a:ext cx="375666" cy="1192657"/>
              <a:chOff x="0" y="0"/>
              <a:chExt cx="375666" cy="1192657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375666" cy="1192657"/>
              </a:xfrm>
              <a:custGeom>
                <a:avLst/>
                <a:gdLst/>
                <a:ahLst/>
                <a:cxnLst/>
                <a:rect r="r" b="b" t="t" l="l"/>
                <a:pathLst>
                  <a:path h="1192657" w="375666">
                    <a:moveTo>
                      <a:pt x="0" y="0"/>
                    </a:moveTo>
                    <a:lnTo>
                      <a:pt x="375666" y="0"/>
                    </a:lnTo>
                    <a:lnTo>
                      <a:pt x="375666" y="1192657"/>
                    </a:lnTo>
                    <a:lnTo>
                      <a:pt x="0" y="119265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-267" t="0" r="-267" b="0"/>
                </a:stretch>
              </a:blipFill>
            </p:spPr>
          </p:sp>
        </p:grpSp>
      </p:grpSp>
      <p:grpSp>
        <p:nvGrpSpPr>
          <p:cNvPr name="Group 7" id="7"/>
          <p:cNvGrpSpPr/>
          <p:nvPr/>
        </p:nvGrpSpPr>
        <p:grpSpPr>
          <a:xfrm rot="0">
            <a:off x="6280699" y="2236025"/>
            <a:ext cx="5726601" cy="6355185"/>
            <a:chOff x="0" y="0"/>
            <a:chExt cx="7635469" cy="84735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635494" cy="8473567"/>
            </a:xfrm>
            <a:custGeom>
              <a:avLst/>
              <a:gdLst/>
              <a:ahLst/>
              <a:cxnLst/>
              <a:rect r="r" b="b" t="t" l="l"/>
              <a:pathLst>
                <a:path h="8473567" w="7635494">
                  <a:moveTo>
                    <a:pt x="0" y="0"/>
                  </a:moveTo>
                  <a:lnTo>
                    <a:pt x="7635494" y="0"/>
                  </a:lnTo>
                  <a:lnTo>
                    <a:pt x="7635494" y="8473567"/>
                  </a:lnTo>
                  <a:lnTo>
                    <a:pt x="0" y="8473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946" t="0" r="-1946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410636" y="2052909"/>
            <a:ext cx="1687542" cy="6721416"/>
            <a:chOff x="0" y="0"/>
            <a:chExt cx="2536469" cy="101026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36444" cy="10102596"/>
            </a:xfrm>
            <a:custGeom>
              <a:avLst/>
              <a:gdLst/>
              <a:ahLst/>
              <a:cxnLst/>
              <a:rect r="r" b="b" t="t" l="l"/>
              <a:pathLst>
                <a:path h="10102596" w="2536444">
                  <a:moveTo>
                    <a:pt x="0" y="0"/>
                  </a:moveTo>
                  <a:lnTo>
                    <a:pt x="2536444" y="0"/>
                  </a:lnTo>
                  <a:lnTo>
                    <a:pt x="2536444" y="10102596"/>
                  </a:lnTo>
                  <a:lnTo>
                    <a:pt x="0" y="101025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2000" t="0" r="-12001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778259" y="2307317"/>
            <a:ext cx="4668517" cy="6295930"/>
            <a:chOff x="0" y="0"/>
            <a:chExt cx="6224689" cy="839457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224651" cy="8394573"/>
            </a:xfrm>
            <a:custGeom>
              <a:avLst/>
              <a:gdLst/>
              <a:ahLst/>
              <a:cxnLst/>
              <a:rect r="r" b="b" t="t" l="l"/>
              <a:pathLst>
                <a:path h="8394573" w="6224651">
                  <a:moveTo>
                    <a:pt x="0" y="0"/>
                  </a:moveTo>
                  <a:lnTo>
                    <a:pt x="6224651" y="0"/>
                  </a:lnTo>
                  <a:lnTo>
                    <a:pt x="6224651" y="8394573"/>
                  </a:lnTo>
                  <a:lnTo>
                    <a:pt x="0" y="83945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28700" y="562546"/>
            <a:ext cx="1751876" cy="666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69"/>
              </a:lnSpc>
            </a:pPr>
            <a:r>
              <a:rPr lang="en-US" sz="5166" spc="-154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순서도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16002" y="2091009"/>
            <a:ext cx="1482871" cy="47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7"/>
              </a:lnSpc>
            </a:pPr>
            <a:r>
              <a:rPr lang="en-US" sz="3615" spc="-108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관리자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80085" y="2091009"/>
            <a:ext cx="973293" cy="47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7"/>
              </a:lnSpc>
            </a:pPr>
            <a:r>
              <a:rPr lang="en-US" sz="3615" spc="-108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교사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188401" y="2125076"/>
            <a:ext cx="1155116" cy="393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sz="2976" spc="-89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교육생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7673818" y="233477"/>
            <a:ext cx="85658" cy="380705"/>
          </a:xfrm>
          <a:custGeom>
            <a:avLst/>
            <a:gdLst/>
            <a:ahLst/>
            <a:cxnLst/>
            <a:rect r="r" b="b" t="t" l="l"/>
            <a:pathLst>
              <a:path h="380705" w="85658">
                <a:moveTo>
                  <a:pt x="0" y="0"/>
                </a:moveTo>
                <a:lnTo>
                  <a:pt x="85659" y="0"/>
                </a:lnTo>
                <a:lnTo>
                  <a:pt x="85659" y="380705"/>
                </a:lnTo>
                <a:lnTo>
                  <a:pt x="0" y="380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559" t="0" r="-554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1075" y="1047750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4"/>
                </a:lnTo>
                <a:lnTo>
                  <a:pt x="0" y="383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32882" y="1633804"/>
            <a:ext cx="17267363" cy="7720150"/>
            <a:chOff x="0" y="0"/>
            <a:chExt cx="23023150" cy="102935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22877"/>
              <a:ext cx="23023150" cy="10270656"/>
            </a:xfrm>
            <a:custGeom>
              <a:avLst/>
              <a:gdLst/>
              <a:ahLst/>
              <a:cxnLst/>
              <a:rect r="r" b="b" t="t" l="l"/>
              <a:pathLst>
                <a:path h="10270656" w="23023150">
                  <a:moveTo>
                    <a:pt x="0" y="0"/>
                  </a:moveTo>
                  <a:lnTo>
                    <a:pt x="23023150" y="0"/>
                  </a:lnTo>
                  <a:lnTo>
                    <a:pt x="23023150" y="10270656"/>
                  </a:lnTo>
                  <a:lnTo>
                    <a:pt x="0" y="10270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-2" r="0" b="-2"/>
              </a:stretch>
            </a:blipFill>
          </p:spPr>
        </p:sp>
        <p:grpSp>
          <p:nvGrpSpPr>
            <p:cNvPr name="Group 6" id="6"/>
            <p:cNvGrpSpPr/>
            <p:nvPr/>
          </p:nvGrpSpPr>
          <p:grpSpPr>
            <a:xfrm rot="0">
              <a:off x="21997619" y="0"/>
              <a:ext cx="380379" cy="1207620"/>
              <a:chOff x="0" y="0"/>
              <a:chExt cx="375666" cy="119265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75666" cy="1192657"/>
              </a:xfrm>
              <a:custGeom>
                <a:avLst/>
                <a:gdLst/>
                <a:ahLst/>
                <a:cxnLst/>
                <a:rect r="r" b="b" t="t" l="l"/>
                <a:pathLst>
                  <a:path h="1192657" w="375666">
                    <a:moveTo>
                      <a:pt x="0" y="0"/>
                    </a:moveTo>
                    <a:lnTo>
                      <a:pt x="375666" y="0"/>
                    </a:lnTo>
                    <a:lnTo>
                      <a:pt x="375666" y="1192657"/>
                    </a:lnTo>
                    <a:lnTo>
                      <a:pt x="0" y="119265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267" t="0" r="-267" b="0"/>
                </a:stretch>
              </a:blipFill>
            </p:spPr>
          </p:sp>
        </p:grpSp>
      </p:grpSp>
      <p:grpSp>
        <p:nvGrpSpPr>
          <p:cNvPr name="Group 8" id="8"/>
          <p:cNvGrpSpPr/>
          <p:nvPr/>
        </p:nvGrpSpPr>
        <p:grpSpPr>
          <a:xfrm rot="0">
            <a:off x="2044848" y="1990085"/>
            <a:ext cx="14643430" cy="7007589"/>
            <a:chOff x="0" y="0"/>
            <a:chExt cx="21052244" cy="100745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52282" cy="10074529"/>
            </a:xfrm>
            <a:custGeom>
              <a:avLst/>
              <a:gdLst/>
              <a:ahLst/>
              <a:cxnLst/>
              <a:rect r="r" b="b" t="t" l="l"/>
              <a:pathLst>
                <a:path h="10074529" w="21052282">
                  <a:moveTo>
                    <a:pt x="0" y="0"/>
                  </a:moveTo>
                  <a:lnTo>
                    <a:pt x="21052282" y="0"/>
                  </a:lnTo>
                  <a:lnTo>
                    <a:pt x="21052282" y="10074529"/>
                  </a:lnTo>
                  <a:lnTo>
                    <a:pt x="0" y="100745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2418" t="0" r="-2418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64684" y="970281"/>
            <a:ext cx="6616154" cy="808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4"/>
              </a:lnSpc>
            </a:pPr>
            <a:r>
              <a:rPr lang="en-US" sz="5790" spc="-172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데이터 구조 전체 ERD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7673818" y="233477"/>
            <a:ext cx="85658" cy="380705"/>
          </a:xfrm>
          <a:custGeom>
            <a:avLst/>
            <a:gdLst/>
            <a:ahLst/>
            <a:cxnLst/>
            <a:rect r="r" b="b" t="t" l="l"/>
            <a:pathLst>
              <a:path h="380705" w="85658">
                <a:moveTo>
                  <a:pt x="0" y="0"/>
                </a:moveTo>
                <a:lnTo>
                  <a:pt x="85659" y="0"/>
                </a:lnTo>
                <a:lnTo>
                  <a:pt x="85659" y="380705"/>
                </a:lnTo>
                <a:lnTo>
                  <a:pt x="0" y="380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559" t="0" r="-554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4776" y="836743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4"/>
                </a:lnTo>
                <a:lnTo>
                  <a:pt x="0" y="383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7287" y="2061420"/>
            <a:ext cx="17053417" cy="7607551"/>
          </a:xfrm>
          <a:custGeom>
            <a:avLst/>
            <a:gdLst/>
            <a:ahLst/>
            <a:cxnLst/>
            <a:rect r="r" b="b" t="t" l="l"/>
            <a:pathLst>
              <a:path h="7607551" w="17053417">
                <a:moveTo>
                  <a:pt x="0" y="0"/>
                </a:moveTo>
                <a:lnTo>
                  <a:pt x="17053417" y="0"/>
                </a:lnTo>
                <a:lnTo>
                  <a:pt x="17053417" y="7607550"/>
                </a:lnTo>
                <a:lnTo>
                  <a:pt x="0" y="76075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2" r="0" b="-2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920610" y="2045218"/>
            <a:ext cx="281750" cy="894493"/>
            <a:chOff x="0" y="0"/>
            <a:chExt cx="375666" cy="11926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5666" cy="1192657"/>
            </a:xfrm>
            <a:custGeom>
              <a:avLst/>
              <a:gdLst/>
              <a:ahLst/>
              <a:cxnLst/>
              <a:rect r="r" b="b" t="t" l="l"/>
              <a:pathLst>
                <a:path h="1192657" w="375666">
                  <a:moveTo>
                    <a:pt x="0" y="0"/>
                  </a:moveTo>
                  <a:lnTo>
                    <a:pt x="375666" y="0"/>
                  </a:lnTo>
                  <a:lnTo>
                    <a:pt x="375666" y="1192657"/>
                  </a:lnTo>
                  <a:lnTo>
                    <a:pt x="0" y="119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67" t="0" r="-267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3476608" y="3444716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6"/>
                </a:lnTo>
                <a:lnTo>
                  <a:pt x="0" y="16832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832" t="0" r="-832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2492464"/>
            <a:ext cx="11066882" cy="6783012"/>
            <a:chOff x="0" y="0"/>
            <a:chExt cx="17401946" cy="1066584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401921" cy="10665841"/>
            </a:xfrm>
            <a:custGeom>
              <a:avLst/>
              <a:gdLst/>
              <a:ahLst/>
              <a:cxnLst/>
              <a:rect r="r" b="b" t="t" l="l"/>
              <a:pathLst>
                <a:path h="10665841" w="17401921">
                  <a:moveTo>
                    <a:pt x="0" y="0"/>
                  </a:moveTo>
                  <a:lnTo>
                    <a:pt x="17401921" y="0"/>
                  </a:lnTo>
                  <a:lnTo>
                    <a:pt x="17401921" y="10665841"/>
                  </a:lnTo>
                  <a:lnTo>
                    <a:pt x="0" y="10665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463" t="0" r="-1463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25264" y="755809"/>
            <a:ext cx="9830057" cy="660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8"/>
              </a:lnSpc>
            </a:pPr>
            <a:r>
              <a:rPr lang="en-US" sz="5127" spc="-152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데이터 구조-교육생 기능 관련 테이블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837968" y="3439925"/>
            <a:ext cx="3205496" cy="347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3129" spc="-124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포함 테이블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476608" y="3809047"/>
            <a:ext cx="3782692" cy="1345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5"/>
              </a:lnSpc>
            </a:pPr>
            <a:r>
              <a:rPr lang="en-US" sz="2445" spc="-22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교육생·출결관리조회·수강등록·성적·소모임·모임원·</a:t>
            </a:r>
          </a:p>
          <a:p>
            <a:pPr algn="l">
              <a:lnSpc>
                <a:spcPts val="3667"/>
              </a:lnSpc>
            </a:pPr>
            <a:r>
              <a:rPr lang="en-US" sz="2445" spc="-22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사후처리/취업·질문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7673818" y="233477"/>
            <a:ext cx="85658" cy="380705"/>
          </a:xfrm>
          <a:custGeom>
            <a:avLst/>
            <a:gdLst/>
            <a:ahLst/>
            <a:cxnLst/>
            <a:rect r="r" b="b" t="t" l="l"/>
            <a:pathLst>
              <a:path h="380705" w="85658">
                <a:moveTo>
                  <a:pt x="0" y="0"/>
                </a:moveTo>
                <a:lnTo>
                  <a:pt x="85659" y="0"/>
                </a:lnTo>
                <a:lnTo>
                  <a:pt x="85659" y="380705"/>
                </a:lnTo>
                <a:lnTo>
                  <a:pt x="0" y="380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559" t="0" r="-554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1075" y="1047750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4"/>
                </a:lnTo>
                <a:lnTo>
                  <a:pt x="0" y="383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7287" y="2061420"/>
            <a:ext cx="17053417" cy="7607551"/>
          </a:xfrm>
          <a:custGeom>
            <a:avLst/>
            <a:gdLst/>
            <a:ahLst/>
            <a:cxnLst/>
            <a:rect r="r" b="b" t="t" l="l"/>
            <a:pathLst>
              <a:path h="7607551" w="17053417">
                <a:moveTo>
                  <a:pt x="0" y="0"/>
                </a:moveTo>
                <a:lnTo>
                  <a:pt x="17053417" y="0"/>
                </a:lnTo>
                <a:lnTo>
                  <a:pt x="17053417" y="7607550"/>
                </a:lnTo>
                <a:lnTo>
                  <a:pt x="0" y="76075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2" r="0" b="-2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76608" y="3444716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6"/>
                </a:lnTo>
                <a:lnTo>
                  <a:pt x="0" y="1683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832" t="0" r="-832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64999" y="3320679"/>
            <a:ext cx="11853662" cy="5125624"/>
            <a:chOff x="0" y="0"/>
            <a:chExt cx="17142638" cy="74126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142588" cy="7412609"/>
            </a:xfrm>
            <a:custGeom>
              <a:avLst/>
              <a:gdLst/>
              <a:ahLst/>
              <a:cxnLst/>
              <a:rect r="r" b="b" t="t" l="l"/>
              <a:pathLst>
                <a:path h="7412609" w="17142588">
                  <a:moveTo>
                    <a:pt x="0" y="0"/>
                  </a:moveTo>
                  <a:lnTo>
                    <a:pt x="17142588" y="0"/>
                  </a:lnTo>
                  <a:lnTo>
                    <a:pt x="17142588" y="7412609"/>
                  </a:lnTo>
                  <a:lnTo>
                    <a:pt x="0" y="74126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067" t="0" r="-1068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517637" y="1035291"/>
            <a:ext cx="9785452" cy="730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41"/>
              </a:lnSpc>
            </a:pPr>
            <a:r>
              <a:rPr lang="en-US" sz="5727" spc="-171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데이터 구조 교사기능 관련 테이블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837968" y="3439925"/>
            <a:ext cx="3205496" cy="347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3129" spc="-124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포함 테이블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76608" y="3809047"/>
            <a:ext cx="3782692" cy="1411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7"/>
              </a:lnSpc>
            </a:pPr>
            <a:r>
              <a:rPr lang="en-US" sz="2445" spc="-22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교사·강의가능과목·강의이력조회·공지사항·상담일자·</a:t>
            </a:r>
          </a:p>
          <a:p>
            <a:pPr algn="l">
              <a:lnSpc>
                <a:spcPts val="3667"/>
              </a:lnSpc>
            </a:pPr>
            <a:r>
              <a:rPr lang="en-US" sz="2445" spc="-22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교사평가· 답변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6920610" y="2045218"/>
            <a:ext cx="281750" cy="894493"/>
            <a:chOff x="0" y="0"/>
            <a:chExt cx="375666" cy="11926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75666" cy="1192657"/>
            </a:xfrm>
            <a:custGeom>
              <a:avLst/>
              <a:gdLst/>
              <a:ahLst/>
              <a:cxnLst/>
              <a:rect r="r" b="b" t="t" l="l"/>
              <a:pathLst>
                <a:path h="1192657" w="375666">
                  <a:moveTo>
                    <a:pt x="0" y="0"/>
                  </a:moveTo>
                  <a:lnTo>
                    <a:pt x="375666" y="0"/>
                  </a:lnTo>
                  <a:lnTo>
                    <a:pt x="375666" y="1192657"/>
                  </a:lnTo>
                  <a:lnTo>
                    <a:pt x="0" y="119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267" t="0" r="-267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7673818" y="233477"/>
            <a:ext cx="85658" cy="380705"/>
          </a:xfrm>
          <a:custGeom>
            <a:avLst/>
            <a:gdLst/>
            <a:ahLst/>
            <a:cxnLst/>
            <a:rect r="r" b="b" t="t" l="l"/>
            <a:pathLst>
              <a:path h="380705" w="85658">
                <a:moveTo>
                  <a:pt x="0" y="0"/>
                </a:moveTo>
                <a:lnTo>
                  <a:pt x="85659" y="0"/>
                </a:lnTo>
                <a:lnTo>
                  <a:pt x="85659" y="380705"/>
                </a:lnTo>
                <a:lnTo>
                  <a:pt x="0" y="380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559" t="0" r="-554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1075" y="1047750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4"/>
                </a:lnTo>
                <a:lnTo>
                  <a:pt x="0" y="383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7287" y="2061420"/>
            <a:ext cx="17053417" cy="7607551"/>
          </a:xfrm>
          <a:custGeom>
            <a:avLst/>
            <a:gdLst/>
            <a:ahLst/>
            <a:cxnLst/>
            <a:rect r="r" b="b" t="t" l="l"/>
            <a:pathLst>
              <a:path h="7607551" w="17053417">
                <a:moveTo>
                  <a:pt x="0" y="0"/>
                </a:moveTo>
                <a:lnTo>
                  <a:pt x="17053417" y="0"/>
                </a:lnTo>
                <a:lnTo>
                  <a:pt x="17053417" y="7607550"/>
                </a:lnTo>
                <a:lnTo>
                  <a:pt x="0" y="76075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2" r="0" b="-2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920610" y="2045218"/>
            <a:ext cx="281750" cy="894493"/>
            <a:chOff x="0" y="0"/>
            <a:chExt cx="375666" cy="11926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5666" cy="1192657"/>
            </a:xfrm>
            <a:custGeom>
              <a:avLst/>
              <a:gdLst/>
              <a:ahLst/>
              <a:cxnLst/>
              <a:rect r="r" b="b" t="t" l="l"/>
              <a:pathLst>
                <a:path h="1192657" w="375666">
                  <a:moveTo>
                    <a:pt x="0" y="0"/>
                  </a:moveTo>
                  <a:lnTo>
                    <a:pt x="375666" y="0"/>
                  </a:lnTo>
                  <a:lnTo>
                    <a:pt x="375666" y="1192657"/>
                  </a:lnTo>
                  <a:lnTo>
                    <a:pt x="0" y="119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67" t="0" r="-267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3476608" y="3444716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6"/>
                </a:lnTo>
                <a:lnTo>
                  <a:pt x="0" y="16832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832" t="0" r="-832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364999" y="2559615"/>
            <a:ext cx="10693975" cy="6097686"/>
            <a:chOff x="0" y="0"/>
            <a:chExt cx="14258633" cy="81302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258671" cy="8130286"/>
            </a:xfrm>
            <a:custGeom>
              <a:avLst/>
              <a:gdLst/>
              <a:ahLst/>
              <a:cxnLst/>
              <a:rect r="r" b="b" t="t" l="l"/>
              <a:pathLst>
                <a:path h="8130286" w="14258671">
                  <a:moveTo>
                    <a:pt x="0" y="0"/>
                  </a:moveTo>
                  <a:lnTo>
                    <a:pt x="14258671" y="0"/>
                  </a:lnTo>
                  <a:lnTo>
                    <a:pt x="14258671" y="8130286"/>
                  </a:lnTo>
                  <a:lnTo>
                    <a:pt x="0" y="81302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17637" y="1016241"/>
            <a:ext cx="12069347" cy="660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8"/>
              </a:lnSpc>
            </a:pPr>
            <a:r>
              <a:rPr lang="en-US" sz="5127" spc="-152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데이터 구조- 과목, 과정기능 관련 테이블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837968" y="3439925"/>
            <a:ext cx="3205496" cy="347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3129" spc="-124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포함 테이블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476608" y="3809047"/>
            <a:ext cx="3782692" cy="1411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7"/>
              </a:lnSpc>
            </a:pPr>
            <a:r>
              <a:rPr lang="en-US" sz="2445" spc="-22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강의실 · 개설과정 · 과정코드 · 교재 · 개설과목 · 과목</a:t>
            </a:r>
          </a:p>
          <a:p>
            <a:pPr algn="l">
              <a:lnSpc>
                <a:spcPts val="3667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7673818" y="233477"/>
            <a:ext cx="85658" cy="380705"/>
          </a:xfrm>
          <a:custGeom>
            <a:avLst/>
            <a:gdLst/>
            <a:ahLst/>
            <a:cxnLst/>
            <a:rect r="r" b="b" t="t" l="l"/>
            <a:pathLst>
              <a:path h="380705" w="85658">
                <a:moveTo>
                  <a:pt x="0" y="0"/>
                </a:moveTo>
                <a:lnTo>
                  <a:pt x="85659" y="0"/>
                </a:lnTo>
                <a:lnTo>
                  <a:pt x="85659" y="380705"/>
                </a:lnTo>
                <a:lnTo>
                  <a:pt x="0" y="380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559" t="0" r="-554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1075" y="1047750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4"/>
                </a:lnTo>
                <a:lnTo>
                  <a:pt x="0" y="383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7287" y="2061420"/>
            <a:ext cx="17053417" cy="7607551"/>
          </a:xfrm>
          <a:custGeom>
            <a:avLst/>
            <a:gdLst/>
            <a:ahLst/>
            <a:cxnLst/>
            <a:rect r="r" b="b" t="t" l="l"/>
            <a:pathLst>
              <a:path h="7607551" w="17053417">
                <a:moveTo>
                  <a:pt x="0" y="0"/>
                </a:moveTo>
                <a:lnTo>
                  <a:pt x="17053417" y="0"/>
                </a:lnTo>
                <a:lnTo>
                  <a:pt x="17053417" y="7607550"/>
                </a:lnTo>
                <a:lnTo>
                  <a:pt x="0" y="76075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2" r="0" b="-2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920610" y="2045218"/>
            <a:ext cx="281750" cy="894493"/>
            <a:chOff x="0" y="0"/>
            <a:chExt cx="375666" cy="11926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5666" cy="1192657"/>
            </a:xfrm>
            <a:custGeom>
              <a:avLst/>
              <a:gdLst/>
              <a:ahLst/>
              <a:cxnLst/>
              <a:rect r="r" b="b" t="t" l="l"/>
              <a:pathLst>
                <a:path h="1192657" w="375666">
                  <a:moveTo>
                    <a:pt x="0" y="0"/>
                  </a:moveTo>
                  <a:lnTo>
                    <a:pt x="375666" y="0"/>
                  </a:lnTo>
                  <a:lnTo>
                    <a:pt x="375666" y="1192657"/>
                  </a:lnTo>
                  <a:lnTo>
                    <a:pt x="0" y="119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67" t="0" r="-267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3476608" y="3444716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6"/>
                </a:lnTo>
                <a:lnTo>
                  <a:pt x="0" y="16832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832" t="0" r="-832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81075" y="2879236"/>
            <a:ext cx="11987222" cy="4843205"/>
            <a:chOff x="0" y="0"/>
            <a:chExt cx="15982963" cy="64576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982950" cy="6457569"/>
            </a:xfrm>
            <a:custGeom>
              <a:avLst/>
              <a:gdLst/>
              <a:ahLst/>
              <a:cxnLst/>
              <a:rect r="r" b="b" t="t" l="l"/>
              <a:pathLst>
                <a:path h="6457569" w="15982950">
                  <a:moveTo>
                    <a:pt x="0" y="0"/>
                  </a:moveTo>
                  <a:lnTo>
                    <a:pt x="15982950" y="0"/>
                  </a:lnTo>
                  <a:lnTo>
                    <a:pt x="15982950" y="6457569"/>
                  </a:lnTo>
                  <a:lnTo>
                    <a:pt x="0" y="6457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17637" y="1016241"/>
            <a:ext cx="12069347" cy="660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8"/>
              </a:lnSpc>
            </a:pPr>
            <a:r>
              <a:rPr lang="en-US" sz="5127" spc="-152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데이터 구조- 시험 기능 관련 테이블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837968" y="3439925"/>
            <a:ext cx="3205496" cy="347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3129" spc="-124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포함 테이블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476608" y="3809047"/>
            <a:ext cx="3782692" cy="497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7"/>
              </a:lnSpc>
            </a:pPr>
            <a:r>
              <a:rPr lang="en-US" sz="2445" spc="-22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개설과정·배점·성적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7673818" y="233477"/>
            <a:ext cx="85658" cy="380705"/>
          </a:xfrm>
          <a:custGeom>
            <a:avLst/>
            <a:gdLst/>
            <a:ahLst/>
            <a:cxnLst/>
            <a:rect r="r" b="b" t="t" l="l"/>
            <a:pathLst>
              <a:path h="380705" w="85658">
                <a:moveTo>
                  <a:pt x="0" y="0"/>
                </a:moveTo>
                <a:lnTo>
                  <a:pt x="85659" y="0"/>
                </a:lnTo>
                <a:lnTo>
                  <a:pt x="85659" y="380705"/>
                </a:lnTo>
                <a:lnTo>
                  <a:pt x="0" y="380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559" t="0" r="-554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1075" y="1047750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4"/>
                </a:lnTo>
                <a:lnTo>
                  <a:pt x="0" y="383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7287" y="2061420"/>
            <a:ext cx="17053417" cy="7607551"/>
          </a:xfrm>
          <a:custGeom>
            <a:avLst/>
            <a:gdLst/>
            <a:ahLst/>
            <a:cxnLst/>
            <a:rect r="r" b="b" t="t" l="l"/>
            <a:pathLst>
              <a:path h="7607551" w="17053417">
                <a:moveTo>
                  <a:pt x="0" y="0"/>
                </a:moveTo>
                <a:lnTo>
                  <a:pt x="17053417" y="0"/>
                </a:lnTo>
                <a:lnTo>
                  <a:pt x="17053417" y="7607550"/>
                </a:lnTo>
                <a:lnTo>
                  <a:pt x="0" y="76075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2" r="0" b="-2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920610" y="2045218"/>
            <a:ext cx="281750" cy="894493"/>
            <a:chOff x="0" y="0"/>
            <a:chExt cx="375666" cy="11926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5666" cy="1192657"/>
            </a:xfrm>
            <a:custGeom>
              <a:avLst/>
              <a:gdLst/>
              <a:ahLst/>
              <a:cxnLst/>
              <a:rect r="r" b="b" t="t" l="l"/>
              <a:pathLst>
                <a:path h="1192657" w="375666">
                  <a:moveTo>
                    <a:pt x="0" y="0"/>
                  </a:moveTo>
                  <a:lnTo>
                    <a:pt x="375666" y="0"/>
                  </a:lnTo>
                  <a:lnTo>
                    <a:pt x="375666" y="1192657"/>
                  </a:lnTo>
                  <a:lnTo>
                    <a:pt x="0" y="119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67" t="0" r="-267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3476608" y="3444716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6"/>
                </a:lnTo>
                <a:lnTo>
                  <a:pt x="0" y="16832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832" t="0" r="-832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81075" y="-77591"/>
            <a:ext cx="11849967" cy="7381265"/>
            <a:chOff x="0" y="0"/>
            <a:chExt cx="15799956" cy="98416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799943" cy="9841738"/>
            </a:xfrm>
            <a:custGeom>
              <a:avLst/>
              <a:gdLst/>
              <a:ahLst/>
              <a:cxnLst/>
              <a:rect r="r" b="b" t="t" l="l"/>
              <a:pathLst>
                <a:path h="9841738" w="15799943">
                  <a:moveTo>
                    <a:pt x="0" y="0"/>
                  </a:moveTo>
                  <a:lnTo>
                    <a:pt x="15799943" y="0"/>
                  </a:lnTo>
                  <a:lnTo>
                    <a:pt x="15799943" y="9841738"/>
                  </a:lnTo>
                  <a:lnTo>
                    <a:pt x="0" y="9841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801" t="0" r="-180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17637" y="1016241"/>
            <a:ext cx="12069347" cy="63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4"/>
              </a:lnSpc>
            </a:pPr>
            <a:r>
              <a:rPr lang="en-US" sz="4926" spc="-146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데이터 구조 - 독립 테이블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837968" y="3439925"/>
            <a:ext cx="3205496" cy="347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3129" spc="-124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포함 테이블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476608" y="3809047"/>
            <a:ext cx="3782692" cy="497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7"/>
              </a:lnSpc>
            </a:pPr>
            <a:r>
              <a:rPr lang="en-US" sz="2445" spc="-22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관리자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7673818" y="233477"/>
            <a:ext cx="85658" cy="380705"/>
          </a:xfrm>
          <a:custGeom>
            <a:avLst/>
            <a:gdLst/>
            <a:ahLst/>
            <a:cxnLst/>
            <a:rect r="r" b="b" t="t" l="l"/>
            <a:pathLst>
              <a:path h="380705" w="85658">
                <a:moveTo>
                  <a:pt x="0" y="0"/>
                </a:moveTo>
                <a:lnTo>
                  <a:pt x="85659" y="0"/>
                </a:lnTo>
                <a:lnTo>
                  <a:pt x="85659" y="380705"/>
                </a:lnTo>
                <a:lnTo>
                  <a:pt x="0" y="380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559" t="0" r="-554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7287" y="2061420"/>
            <a:ext cx="17053417" cy="7607551"/>
          </a:xfrm>
          <a:custGeom>
            <a:avLst/>
            <a:gdLst/>
            <a:ahLst/>
            <a:cxnLst/>
            <a:rect r="r" b="b" t="t" l="l"/>
            <a:pathLst>
              <a:path h="7607551" w="17053417">
                <a:moveTo>
                  <a:pt x="0" y="0"/>
                </a:moveTo>
                <a:lnTo>
                  <a:pt x="17053417" y="0"/>
                </a:lnTo>
                <a:lnTo>
                  <a:pt x="17053417" y="7607550"/>
                </a:lnTo>
                <a:lnTo>
                  <a:pt x="0" y="76075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" r="0" b="-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81075" y="1047750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4"/>
                </a:lnTo>
                <a:lnTo>
                  <a:pt x="0" y="3839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920610" y="2045218"/>
            <a:ext cx="281750" cy="894493"/>
            <a:chOff x="0" y="0"/>
            <a:chExt cx="375666" cy="11926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5666" cy="1192657"/>
            </a:xfrm>
            <a:custGeom>
              <a:avLst/>
              <a:gdLst/>
              <a:ahLst/>
              <a:cxnLst/>
              <a:rect r="r" b="b" t="t" l="l"/>
              <a:pathLst>
                <a:path h="1192657" w="375666">
                  <a:moveTo>
                    <a:pt x="0" y="0"/>
                  </a:moveTo>
                  <a:lnTo>
                    <a:pt x="375666" y="0"/>
                  </a:lnTo>
                  <a:lnTo>
                    <a:pt x="375666" y="1192657"/>
                  </a:lnTo>
                  <a:lnTo>
                    <a:pt x="0" y="119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67" t="0" r="-267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93165" y="2821876"/>
            <a:ext cx="6973157" cy="6241066"/>
            <a:chOff x="0" y="0"/>
            <a:chExt cx="9297543" cy="83214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297543" cy="8321421"/>
            </a:xfrm>
            <a:custGeom>
              <a:avLst/>
              <a:gdLst/>
              <a:ahLst/>
              <a:cxnLst/>
              <a:rect r="r" b="b" t="t" l="l"/>
              <a:pathLst>
                <a:path h="8321421" w="9297543">
                  <a:moveTo>
                    <a:pt x="0" y="0"/>
                  </a:moveTo>
                  <a:lnTo>
                    <a:pt x="9297543" y="0"/>
                  </a:lnTo>
                  <a:lnTo>
                    <a:pt x="9297543" y="8321421"/>
                  </a:lnTo>
                  <a:lnTo>
                    <a:pt x="0" y="8321421"/>
                  </a:lnTo>
                  <a:close/>
                </a:path>
              </a:pathLst>
            </a:custGeom>
            <a:blipFill>
              <a:blip r:embed="rId9"/>
              <a:stretch>
                <a:fillRect l="-5168" t="0" r="-5168" b="0"/>
              </a:stretch>
            </a:blipFill>
            <a:ln w="19050" cap="sq">
              <a:solidFill>
                <a:srgbClr val="222222"/>
              </a:solidFill>
              <a:prstDash val="solid"/>
              <a:miter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9144000" y="3351905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5"/>
                </a:lnTo>
                <a:lnTo>
                  <a:pt x="0" y="168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832" t="0" r="-832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241431" y="5343268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6"/>
                </a:lnTo>
                <a:lnTo>
                  <a:pt x="0" y="1683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832" t="0" r="-832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241431" y="7231723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6"/>
                </a:lnTo>
                <a:lnTo>
                  <a:pt x="0" y="1683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832" t="0" r="-832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17637" y="1073391"/>
            <a:ext cx="12746145" cy="651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30"/>
              </a:lnSpc>
            </a:pPr>
            <a:r>
              <a:rPr lang="en-US" sz="6011" spc="-180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트러블슈팅 : 교사 - 과목 매칭 불일치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05359" y="3328073"/>
            <a:ext cx="3205496" cy="377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3197" spc="-125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문제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02791" y="5328961"/>
            <a:ext cx="3205496" cy="377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3197" spc="-125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원인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02791" y="7211578"/>
            <a:ext cx="3205496" cy="377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3197" spc="-125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해결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3687661"/>
            <a:ext cx="7483164" cy="914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7"/>
              </a:lnSpc>
            </a:pPr>
            <a:r>
              <a:rPr lang="en-US" sz="2498" spc="-22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tblCourse.teacherNumber와 tblTeacherSubject</a:t>
            </a:r>
          </a:p>
          <a:p>
            <a:pPr algn="l">
              <a:lnSpc>
                <a:spcPts val="3747"/>
              </a:lnSpc>
            </a:pPr>
            <a:r>
              <a:rPr lang="en-US" sz="2498" spc="-24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(강의가능과목) 매핑이 서로 일치하지 않음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241431" y="5625922"/>
            <a:ext cx="7483164" cy="914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7"/>
              </a:lnSpc>
            </a:pPr>
            <a:r>
              <a:rPr lang="en-US" sz="2498" spc="-22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개설과정 36개에 교사를 배정할 때, 실제 과목 강의 가능 </a:t>
            </a:r>
          </a:p>
          <a:p>
            <a:pPr algn="l">
              <a:lnSpc>
                <a:spcPts val="3747"/>
              </a:lnSpc>
            </a:pPr>
            <a:r>
              <a:rPr lang="en-US" sz="2498" spc="-24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여부를 확인하지 않고 순환식으로 임의 배정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41431" y="7512577"/>
            <a:ext cx="7483164" cy="914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7"/>
              </a:lnSpc>
            </a:pPr>
            <a:r>
              <a:rPr lang="en-US" sz="2498" spc="-22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tblOffering + tblTeacherSubject JOIN으로 </a:t>
            </a:r>
          </a:p>
          <a:p>
            <a:pPr algn="l">
              <a:lnSpc>
                <a:spcPts val="3747"/>
              </a:lnSpc>
            </a:pPr>
            <a:r>
              <a:rPr lang="en-US" sz="2498" spc="-24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배정 가능한 교사를 계산 후 UPDATE로 재배정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30119" y="3103950"/>
            <a:ext cx="5218776" cy="5193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9"/>
              </a:lnSpc>
            </a:pPr>
            <a:r>
              <a:rPr lang="en-US" sz="136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SELECT c.courseNumber, c.teacherNumber</a:t>
            </a:r>
          </a:p>
          <a:p>
            <a:pPr algn="l">
              <a:lnSpc>
                <a:spcPts val="1529"/>
              </a:lnSpc>
            </a:pPr>
            <a:r>
              <a:rPr lang="en-US" sz="136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FROM tblCourse c</a:t>
            </a:r>
          </a:p>
          <a:p>
            <a:pPr algn="l">
              <a:lnSpc>
                <a:spcPts val="1529"/>
              </a:lnSpc>
            </a:pPr>
            <a:r>
              <a:rPr lang="en-US" sz="136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WHERE c.teacherNumber NOT IN (</a:t>
            </a:r>
          </a:p>
          <a:p>
            <a:pPr algn="l">
              <a:lnSpc>
                <a:spcPts val="1529"/>
              </a:lnSpc>
            </a:pPr>
            <a:r>
              <a:rPr lang="en-US" sz="136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SELECT ts.teacherNumber</a:t>
            </a:r>
          </a:p>
          <a:p>
            <a:pPr algn="l">
              <a:lnSpc>
                <a:spcPts val="1529"/>
              </a:lnSpc>
            </a:pPr>
            <a:r>
              <a:rPr lang="en-US" sz="136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FROM tblOffering o</a:t>
            </a:r>
          </a:p>
          <a:p>
            <a:pPr algn="l">
              <a:lnSpc>
                <a:spcPts val="1529"/>
              </a:lnSpc>
            </a:pPr>
            <a:r>
              <a:rPr lang="en-US" sz="136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JOIN tblTeacherSubject ts</a:t>
            </a:r>
          </a:p>
          <a:p>
            <a:pPr algn="l">
              <a:lnSpc>
                <a:spcPts val="1529"/>
              </a:lnSpc>
            </a:pPr>
            <a:r>
              <a:rPr lang="en-US" sz="136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ON o.subjectNumber = ts.subjectNumber</a:t>
            </a:r>
          </a:p>
          <a:p>
            <a:pPr algn="l">
              <a:lnSpc>
                <a:spcPts val="1529"/>
              </a:lnSpc>
            </a:pPr>
            <a:r>
              <a:rPr lang="en-US" sz="136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WHERE o.courseNumber = c.courseNumber</a:t>
            </a:r>
          </a:p>
          <a:p>
            <a:pPr algn="l">
              <a:lnSpc>
                <a:spcPts val="1529"/>
              </a:lnSpc>
            </a:pPr>
            <a:r>
              <a:rPr lang="en-US" sz="136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</a:p>
          <a:p>
            <a:pPr algn="l">
              <a:lnSpc>
                <a:spcPts val="1529"/>
              </a:lnSpc>
            </a:pPr>
          </a:p>
          <a:p>
            <a:pPr algn="l">
              <a:lnSpc>
                <a:spcPts val="1529"/>
              </a:lnSpc>
            </a:pPr>
            <a:r>
              <a:rPr lang="en-US" sz="136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-- 교사와 과목 매칭 불일치 확인</a:t>
            </a:r>
          </a:p>
          <a:p>
            <a:pPr algn="l">
              <a:lnSpc>
                <a:spcPts val="1529"/>
              </a:lnSpc>
            </a:pPr>
            <a:r>
              <a:rPr lang="en-US" sz="136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-- 해결: 배정 가능한 교사로 재배정</a:t>
            </a:r>
          </a:p>
          <a:p>
            <a:pPr algn="l">
              <a:lnSpc>
                <a:spcPts val="1529"/>
              </a:lnSpc>
            </a:pPr>
            <a:r>
              <a:rPr lang="en-US" sz="136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UPDATE tblCourse c</a:t>
            </a:r>
          </a:p>
          <a:p>
            <a:pPr algn="l">
              <a:lnSpc>
                <a:spcPts val="1529"/>
              </a:lnSpc>
            </a:pPr>
            <a:r>
              <a:rPr lang="en-US" sz="136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SET teacherNumber = (</a:t>
            </a:r>
          </a:p>
          <a:p>
            <a:pPr algn="l">
              <a:lnSpc>
                <a:spcPts val="1529"/>
              </a:lnSpc>
            </a:pPr>
            <a:r>
              <a:rPr lang="en-US" sz="136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SELECT MIN(ts.teacherNumber)</a:t>
            </a:r>
          </a:p>
          <a:p>
            <a:pPr algn="l">
              <a:lnSpc>
                <a:spcPts val="1529"/>
              </a:lnSpc>
            </a:pPr>
            <a:r>
              <a:rPr lang="en-US" sz="136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FROM tblOffering o</a:t>
            </a:r>
          </a:p>
          <a:p>
            <a:pPr algn="l">
              <a:lnSpc>
                <a:spcPts val="1529"/>
              </a:lnSpc>
            </a:pPr>
            <a:r>
              <a:rPr lang="en-US" sz="136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JOIN tblTeacherSubject ts</a:t>
            </a:r>
          </a:p>
          <a:p>
            <a:pPr algn="l">
              <a:lnSpc>
                <a:spcPts val="1529"/>
              </a:lnSpc>
            </a:pPr>
            <a:r>
              <a:rPr lang="en-US" sz="136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ON o.subjectNumber = ts.subjectNumber</a:t>
            </a:r>
          </a:p>
          <a:p>
            <a:pPr algn="l">
              <a:lnSpc>
                <a:spcPts val="1529"/>
              </a:lnSpc>
            </a:pPr>
            <a:r>
              <a:rPr lang="en-US" sz="136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WHERE o.courseNumber = c.courseNumber</a:t>
            </a:r>
          </a:p>
          <a:p>
            <a:pPr algn="l">
              <a:lnSpc>
                <a:spcPts val="1529"/>
              </a:lnSpc>
            </a:pPr>
            <a:r>
              <a:rPr lang="en-US" sz="136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</a:p>
          <a:p>
            <a:pPr algn="l">
              <a:lnSpc>
                <a:spcPts val="1529"/>
              </a:lnSpc>
            </a:pPr>
            <a:r>
              <a:rPr lang="en-US" sz="136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WHERE c.courseNumber IN</a:t>
            </a:r>
          </a:p>
          <a:p>
            <a:pPr algn="l">
              <a:lnSpc>
                <a:spcPts val="1529"/>
              </a:lnSpc>
            </a:pPr>
            <a:r>
              <a:rPr lang="en-US" sz="136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(1,2,3,4,5,6,11,17,23,29,30,35,36)</a:t>
            </a:r>
          </a:p>
          <a:p>
            <a:pPr algn="l">
              <a:lnSpc>
                <a:spcPts val="1529"/>
              </a:lnSpc>
            </a:pPr>
            <a:r>
              <a:rPr lang="en-US" sz="136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AND EXISTS (</a:t>
            </a:r>
          </a:p>
          <a:p>
            <a:pPr algn="l">
              <a:lnSpc>
                <a:spcPts val="1529"/>
              </a:lnSpc>
            </a:pPr>
            <a:r>
              <a:rPr lang="en-US" sz="136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SELECT 1 FROM tblOffering o</a:t>
            </a:r>
          </a:p>
          <a:p>
            <a:pPr algn="l">
              <a:lnSpc>
                <a:spcPts val="1529"/>
              </a:lnSpc>
            </a:pPr>
            <a:r>
              <a:rPr lang="en-US" sz="136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JOIN tblTeacherSubject ts</a:t>
            </a:r>
          </a:p>
          <a:p>
            <a:pPr algn="l">
              <a:lnSpc>
                <a:spcPts val="1529"/>
              </a:lnSpc>
            </a:pPr>
            <a:r>
              <a:rPr lang="en-US" sz="136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ON o.subjectNumber = ts.subjectNumber</a:t>
            </a:r>
          </a:p>
          <a:p>
            <a:pPr algn="l">
              <a:lnSpc>
                <a:spcPts val="1529"/>
              </a:lnSpc>
            </a:pPr>
            <a:r>
              <a:rPr lang="en-US" sz="136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WHERE o.courseNumber = c.courseNumber</a:t>
            </a:r>
          </a:p>
          <a:p>
            <a:pPr algn="l">
              <a:lnSpc>
                <a:spcPts val="1529"/>
              </a:lnSpc>
            </a:pPr>
            <a:r>
              <a:rPr lang="en-US" sz="136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7673818" y="233477"/>
            <a:ext cx="85658" cy="380705"/>
          </a:xfrm>
          <a:custGeom>
            <a:avLst/>
            <a:gdLst/>
            <a:ahLst/>
            <a:cxnLst/>
            <a:rect r="r" b="b" t="t" l="l"/>
            <a:pathLst>
              <a:path h="380705" w="85658">
                <a:moveTo>
                  <a:pt x="0" y="0"/>
                </a:moveTo>
                <a:lnTo>
                  <a:pt x="85659" y="0"/>
                </a:lnTo>
                <a:lnTo>
                  <a:pt x="85659" y="380705"/>
                </a:lnTo>
                <a:lnTo>
                  <a:pt x="0" y="380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559" t="0" r="-554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7287" y="2061420"/>
            <a:ext cx="17053417" cy="7607551"/>
          </a:xfrm>
          <a:custGeom>
            <a:avLst/>
            <a:gdLst/>
            <a:ahLst/>
            <a:cxnLst/>
            <a:rect r="r" b="b" t="t" l="l"/>
            <a:pathLst>
              <a:path h="7607551" w="17053417">
                <a:moveTo>
                  <a:pt x="0" y="0"/>
                </a:moveTo>
                <a:lnTo>
                  <a:pt x="17053417" y="0"/>
                </a:lnTo>
                <a:lnTo>
                  <a:pt x="17053417" y="7607550"/>
                </a:lnTo>
                <a:lnTo>
                  <a:pt x="0" y="76075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" r="0" b="-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81075" y="1047750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4"/>
                </a:lnTo>
                <a:lnTo>
                  <a:pt x="0" y="3839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920610" y="2045218"/>
            <a:ext cx="281750" cy="894493"/>
            <a:chOff x="0" y="0"/>
            <a:chExt cx="375666" cy="11926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5666" cy="1192657"/>
            </a:xfrm>
            <a:custGeom>
              <a:avLst/>
              <a:gdLst/>
              <a:ahLst/>
              <a:cxnLst/>
              <a:rect r="r" b="b" t="t" l="l"/>
              <a:pathLst>
                <a:path h="1192657" w="375666">
                  <a:moveTo>
                    <a:pt x="0" y="0"/>
                  </a:moveTo>
                  <a:lnTo>
                    <a:pt x="375666" y="0"/>
                  </a:lnTo>
                  <a:lnTo>
                    <a:pt x="375666" y="1192657"/>
                  </a:lnTo>
                  <a:lnTo>
                    <a:pt x="0" y="119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67" t="0" r="-267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93165" y="2821876"/>
            <a:ext cx="6973157" cy="6241066"/>
            <a:chOff x="0" y="0"/>
            <a:chExt cx="9297543" cy="83214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297543" cy="8321421"/>
            </a:xfrm>
            <a:custGeom>
              <a:avLst/>
              <a:gdLst/>
              <a:ahLst/>
              <a:cxnLst/>
              <a:rect r="r" b="b" t="t" l="l"/>
              <a:pathLst>
                <a:path h="8321421" w="9297543">
                  <a:moveTo>
                    <a:pt x="0" y="0"/>
                  </a:moveTo>
                  <a:lnTo>
                    <a:pt x="9297543" y="0"/>
                  </a:lnTo>
                  <a:lnTo>
                    <a:pt x="9297543" y="8321421"/>
                  </a:lnTo>
                  <a:lnTo>
                    <a:pt x="0" y="8321421"/>
                  </a:lnTo>
                  <a:close/>
                </a:path>
              </a:pathLst>
            </a:custGeom>
            <a:blipFill>
              <a:blip r:embed="rId9"/>
              <a:stretch>
                <a:fillRect l="-5168" t="0" r="-5168" b="0"/>
              </a:stretch>
            </a:blipFill>
            <a:ln w="19050" cap="sq">
              <a:solidFill>
                <a:srgbClr val="222222"/>
              </a:solidFill>
              <a:prstDash val="solid"/>
              <a:miter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9144000" y="3351905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5"/>
                </a:lnTo>
                <a:lnTo>
                  <a:pt x="0" y="168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832" t="0" r="-832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241431" y="5343268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6"/>
                </a:lnTo>
                <a:lnTo>
                  <a:pt x="0" y="1683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832" t="0" r="-832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241431" y="7231723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6"/>
                </a:lnTo>
                <a:lnTo>
                  <a:pt x="0" y="1683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832" t="0" r="-832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17637" y="1073391"/>
            <a:ext cx="14440576" cy="651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30"/>
              </a:lnSpc>
            </a:pPr>
            <a:r>
              <a:rPr lang="en-US" sz="6011" spc="-180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트러블슈팅 : CHECK 제약조건 값 불일치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05359" y="3328073"/>
            <a:ext cx="3205496" cy="377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3197" spc="-125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문제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02791" y="5328961"/>
            <a:ext cx="3205496" cy="377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3197" spc="-125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원인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02791" y="7211578"/>
            <a:ext cx="3205496" cy="377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3197" spc="-125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해결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3687661"/>
            <a:ext cx="7483164" cy="1066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7"/>
              </a:lnSpc>
            </a:pPr>
            <a:r>
              <a:rPr lang="en-US" sz="2498" spc="-24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courseStatus에 '진행중', '수료' 값 입력 시 ORA-02290 에러 반복 발생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241431" y="5625922"/>
            <a:ext cx="7483164" cy="914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7"/>
              </a:lnSpc>
            </a:pPr>
            <a:r>
              <a:rPr lang="en-US" sz="2498" spc="-22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기존 CHECK 제약이 '모집중, 모집마감, 취소' 3개 값만 </a:t>
            </a:r>
          </a:p>
          <a:p>
            <a:pPr algn="l">
              <a:lnSpc>
                <a:spcPts val="3747"/>
              </a:lnSpc>
            </a:pPr>
            <a:r>
              <a:rPr lang="en-US" sz="2498" spc="-24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허용 — 팀 간 상태값 용어 사전 협의 부재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41431" y="7512577"/>
            <a:ext cx="7483164" cy="914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7"/>
              </a:lnSpc>
            </a:pPr>
            <a:r>
              <a:rPr lang="en-US" sz="2498" spc="-22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기존 제약 DROP 후, 필요한 값 포함해 5개 값 허용하는 </a:t>
            </a:r>
          </a:p>
          <a:p>
            <a:pPr algn="l">
              <a:lnSpc>
                <a:spcPts val="3747"/>
              </a:lnSpc>
            </a:pPr>
            <a:r>
              <a:rPr lang="en-US" sz="2498" spc="-24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제약으로 재생성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30119" y="3103950"/>
            <a:ext cx="7253164" cy="5677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899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INSERT INTO tblCourse(courseStatus)</a:t>
            </a:r>
          </a:p>
          <a:p>
            <a:pPr algn="l">
              <a:lnSpc>
                <a:spcPts val="2126"/>
              </a:lnSpc>
            </a:pPr>
            <a:r>
              <a:rPr lang="en-US" sz="1899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VALUES ('진행중');</a:t>
            </a:r>
          </a:p>
          <a:p>
            <a:pPr algn="l">
              <a:lnSpc>
                <a:spcPts val="2126"/>
              </a:lnSpc>
            </a:pPr>
            <a:r>
              <a:rPr lang="en-US" sz="1899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-- ORA-02290: 체크 제약조건</a:t>
            </a:r>
          </a:p>
          <a:p>
            <a:pPr algn="l">
              <a:lnSpc>
                <a:spcPts val="2126"/>
              </a:lnSpc>
            </a:pPr>
            <a:r>
              <a:rPr lang="en-US" sz="1899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-- 위배되었습니다</a:t>
            </a:r>
          </a:p>
          <a:p>
            <a:pPr algn="l">
              <a:lnSpc>
                <a:spcPts val="2126"/>
              </a:lnSpc>
            </a:pPr>
          </a:p>
          <a:p>
            <a:pPr algn="l">
              <a:lnSpc>
                <a:spcPts val="2126"/>
              </a:lnSpc>
            </a:pPr>
            <a:r>
              <a:rPr lang="en-US" sz="1899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-- 원인 확인</a:t>
            </a:r>
          </a:p>
          <a:p>
            <a:pPr algn="l">
              <a:lnSpc>
                <a:spcPts val="2126"/>
              </a:lnSpc>
            </a:pPr>
            <a:r>
              <a:rPr lang="en-US" sz="1899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SELECT search_condition</a:t>
            </a:r>
          </a:p>
          <a:p>
            <a:pPr algn="l">
              <a:lnSpc>
                <a:spcPts val="2126"/>
              </a:lnSpc>
            </a:pPr>
            <a:r>
              <a:rPr lang="en-US" sz="1899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FROM user_constraints</a:t>
            </a:r>
          </a:p>
          <a:p>
            <a:pPr algn="l">
              <a:lnSpc>
                <a:spcPts val="2126"/>
              </a:lnSpc>
            </a:pPr>
            <a:r>
              <a:rPr lang="en-US" sz="1899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WHERE constraint_name</a:t>
            </a:r>
          </a:p>
          <a:p>
            <a:pPr algn="l">
              <a:lnSpc>
                <a:spcPts val="2126"/>
              </a:lnSpc>
            </a:pPr>
            <a:r>
              <a:rPr lang="en-US" sz="1899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= 'CK_TBLCOURSE_ST';</a:t>
            </a:r>
          </a:p>
          <a:p>
            <a:pPr algn="l">
              <a:lnSpc>
                <a:spcPts val="2126"/>
              </a:lnSpc>
            </a:pPr>
            <a:r>
              <a:rPr lang="en-US" sz="1899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-- IN ('모집중','모집마감','취소')</a:t>
            </a:r>
          </a:p>
          <a:p>
            <a:pPr algn="l">
              <a:lnSpc>
                <a:spcPts val="2126"/>
              </a:lnSpc>
            </a:pPr>
          </a:p>
          <a:p>
            <a:pPr algn="l">
              <a:lnSpc>
                <a:spcPts val="2126"/>
              </a:lnSpc>
            </a:pPr>
            <a:r>
              <a:rPr lang="en-US" sz="1899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-- 해결</a:t>
            </a:r>
          </a:p>
          <a:p>
            <a:pPr algn="l">
              <a:lnSpc>
                <a:spcPts val="2126"/>
              </a:lnSpc>
            </a:pPr>
            <a:r>
              <a:rPr lang="en-US" sz="1899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ALTER TABLE tblCourse</a:t>
            </a:r>
          </a:p>
          <a:p>
            <a:pPr algn="l">
              <a:lnSpc>
                <a:spcPts val="2126"/>
              </a:lnSpc>
            </a:pPr>
            <a:r>
              <a:rPr lang="en-US" sz="1899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DROP CONSTRAINT CK_TBLCOURSE_ST;</a:t>
            </a:r>
          </a:p>
          <a:p>
            <a:pPr algn="l">
              <a:lnSpc>
                <a:spcPts val="2126"/>
              </a:lnSpc>
            </a:pPr>
          </a:p>
          <a:p>
            <a:pPr algn="l">
              <a:lnSpc>
                <a:spcPts val="2126"/>
              </a:lnSpc>
            </a:pPr>
            <a:r>
              <a:rPr lang="en-US" sz="1899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ALTER TABLE tblCourse</a:t>
            </a:r>
          </a:p>
          <a:p>
            <a:pPr algn="l">
              <a:lnSpc>
                <a:spcPts val="2126"/>
              </a:lnSpc>
            </a:pPr>
            <a:r>
              <a:rPr lang="en-US" sz="1899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ADD CONSTRAINT CK_TBLCOURSE_ST</a:t>
            </a:r>
          </a:p>
          <a:p>
            <a:pPr algn="l">
              <a:lnSpc>
                <a:spcPts val="2126"/>
              </a:lnSpc>
            </a:pPr>
            <a:r>
              <a:rPr lang="en-US" sz="1899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CHECK (courseStatus IN</a:t>
            </a:r>
          </a:p>
          <a:p>
            <a:pPr algn="l">
              <a:lnSpc>
                <a:spcPts val="2126"/>
              </a:lnSpc>
            </a:pPr>
            <a:r>
              <a:rPr lang="en-US" sz="1899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('모집중','모집마감','취소',</a:t>
            </a:r>
          </a:p>
          <a:p>
            <a:pPr algn="l">
              <a:lnSpc>
                <a:spcPts val="2126"/>
              </a:lnSpc>
            </a:pPr>
            <a:r>
              <a:rPr lang="en-US" sz="1899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'진행중','수료'));</a:t>
            </a:r>
          </a:p>
          <a:p>
            <a:pPr algn="l">
              <a:lnSpc>
                <a:spcPts val="2126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7673818" y="233477"/>
            <a:ext cx="85658" cy="380705"/>
          </a:xfrm>
          <a:custGeom>
            <a:avLst/>
            <a:gdLst/>
            <a:ahLst/>
            <a:cxnLst/>
            <a:rect r="r" b="b" t="t" l="l"/>
            <a:pathLst>
              <a:path h="380705" w="85658">
                <a:moveTo>
                  <a:pt x="0" y="0"/>
                </a:moveTo>
                <a:lnTo>
                  <a:pt x="85659" y="0"/>
                </a:lnTo>
                <a:lnTo>
                  <a:pt x="85659" y="380705"/>
                </a:lnTo>
                <a:lnTo>
                  <a:pt x="0" y="380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559" t="0" r="-554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7287" y="2061420"/>
            <a:ext cx="17053417" cy="7607551"/>
          </a:xfrm>
          <a:custGeom>
            <a:avLst/>
            <a:gdLst/>
            <a:ahLst/>
            <a:cxnLst/>
            <a:rect r="r" b="b" t="t" l="l"/>
            <a:pathLst>
              <a:path h="7607551" w="17053417">
                <a:moveTo>
                  <a:pt x="0" y="0"/>
                </a:moveTo>
                <a:lnTo>
                  <a:pt x="17053417" y="0"/>
                </a:lnTo>
                <a:lnTo>
                  <a:pt x="17053417" y="7607550"/>
                </a:lnTo>
                <a:lnTo>
                  <a:pt x="0" y="76075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" r="0" b="-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81075" y="1047750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4"/>
                </a:lnTo>
                <a:lnTo>
                  <a:pt x="0" y="3839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920610" y="2045218"/>
            <a:ext cx="281750" cy="894493"/>
            <a:chOff x="0" y="0"/>
            <a:chExt cx="375666" cy="11926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5666" cy="1192657"/>
            </a:xfrm>
            <a:custGeom>
              <a:avLst/>
              <a:gdLst/>
              <a:ahLst/>
              <a:cxnLst/>
              <a:rect r="r" b="b" t="t" l="l"/>
              <a:pathLst>
                <a:path h="1192657" w="375666">
                  <a:moveTo>
                    <a:pt x="0" y="0"/>
                  </a:moveTo>
                  <a:lnTo>
                    <a:pt x="375666" y="0"/>
                  </a:lnTo>
                  <a:lnTo>
                    <a:pt x="375666" y="1192657"/>
                  </a:lnTo>
                  <a:lnTo>
                    <a:pt x="0" y="119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67" t="0" r="-267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93165" y="2821876"/>
            <a:ext cx="6973157" cy="6241066"/>
            <a:chOff x="0" y="0"/>
            <a:chExt cx="9297543" cy="83214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297543" cy="8321421"/>
            </a:xfrm>
            <a:custGeom>
              <a:avLst/>
              <a:gdLst/>
              <a:ahLst/>
              <a:cxnLst/>
              <a:rect r="r" b="b" t="t" l="l"/>
              <a:pathLst>
                <a:path h="8321421" w="9297543">
                  <a:moveTo>
                    <a:pt x="0" y="0"/>
                  </a:moveTo>
                  <a:lnTo>
                    <a:pt x="9297543" y="0"/>
                  </a:lnTo>
                  <a:lnTo>
                    <a:pt x="9297543" y="8321421"/>
                  </a:lnTo>
                  <a:lnTo>
                    <a:pt x="0" y="8321421"/>
                  </a:lnTo>
                  <a:close/>
                </a:path>
              </a:pathLst>
            </a:custGeom>
            <a:blipFill>
              <a:blip r:embed="rId9"/>
              <a:stretch>
                <a:fillRect l="-5168" t="0" r="-5168" b="0"/>
              </a:stretch>
            </a:blipFill>
            <a:ln w="19050" cap="sq">
              <a:solidFill>
                <a:srgbClr val="222222"/>
              </a:solidFill>
              <a:prstDash val="solid"/>
              <a:miter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9144000" y="3351905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5"/>
                </a:lnTo>
                <a:lnTo>
                  <a:pt x="0" y="168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832" t="0" r="-832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241431" y="5343268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6"/>
                </a:lnTo>
                <a:lnTo>
                  <a:pt x="0" y="1683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832" t="0" r="-832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241431" y="7627134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6"/>
                </a:lnTo>
                <a:lnTo>
                  <a:pt x="0" y="1683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832" t="0" r="-832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17637" y="1073391"/>
            <a:ext cx="16008668" cy="651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30"/>
              </a:lnSpc>
            </a:pPr>
            <a:r>
              <a:rPr lang="en-US" sz="6011" spc="-180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트러블슈팅 : 공유계정 누락 데이터 미공유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05359" y="3328073"/>
            <a:ext cx="3205496" cy="377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3197" spc="-125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문제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02791" y="5328961"/>
            <a:ext cx="3205496" cy="377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3197" spc="-125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원인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02791" y="7606989"/>
            <a:ext cx="3205496" cy="377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3197" spc="-125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해결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3687661"/>
            <a:ext cx="7483164" cy="914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7"/>
              </a:lnSpc>
            </a:pPr>
            <a:r>
              <a:rPr lang="en-US" sz="2498" spc="-22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팀원이 tblOffering에 데이터를 넣었다고 했는데, </a:t>
            </a:r>
          </a:p>
          <a:p>
            <a:pPr algn="l">
              <a:lnSpc>
                <a:spcPts val="3747"/>
              </a:lnSpc>
            </a:pPr>
            <a:r>
              <a:rPr lang="en-US" sz="2498" spc="-24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본인 화면에서 조회하면 데이터가 하나도 안 보임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241431" y="5625922"/>
            <a:ext cx="7483164" cy="1533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7"/>
              </a:lnSpc>
            </a:pPr>
            <a:r>
              <a:rPr lang="en-US" sz="2498" spc="-24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같은 계정을 공유하는 환경에서 팀원이 INSERT만 하고 COMMIT을 하지 않아, 본인 세션에서만 보이고 다른 사람 화면엔 미반영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41431" y="7907988"/>
            <a:ext cx="7483164" cy="1066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7"/>
              </a:lnSpc>
            </a:pPr>
            <a:r>
              <a:rPr lang="en-US" sz="2498" spc="-24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COMMIT 실행 요청 후 재조회로 확인, 이후 "INSERT 후 COMMIT 여부 팀 단톡방 공유" 규칙 수립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30119" y="3132525"/>
            <a:ext cx="8175241" cy="5500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8"/>
              </a:lnSpc>
            </a:pPr>
            <a:r>
              <a:rPr lang="en-US" sz="214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-- 팀원 세션에서 실행</a:t>
            </a:r>
          </a:p>
          <a:p>
            <a:pPr algn="l">
              <a:lnSpc>
                <a:spcPts val="2398"/>
              </a:lnSpc>
            </a:pPr>
            <a:r>
              <a:rPr lang="en-US" sz="214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INSERT INTO tblOffering VALUES</a:t>
            </a:r>
          </a:p>
          <a:p>
            <a:pPr algn="l">
              <a:lnSpc>
                <a:spcPts val="2398"/>
              </a:lnSpc>
            </a:pPr>
            <a:r>
              <a:rPr lang="en-US" sz="214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(1, 1, 1, 1, ...);</a:t>
            </a:r>
          </a:p>
          <a:p>
            <a:pPr algn="l">
              <a:lnSpc>
                <a:spcPts val="2398"/>
              </a:lnSpc>
            </a:pPr>
            <a:r>
              <a:rPr lang="en-US" sz="214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-- (COMMIT 하지 않음)</a:t>
            </a:r>
          </a:p>
          <a:p>
            <a:pPr algn="l">
              <a:lnSpc>
                <a:spcPts val="2398"/>
              </a:lnSpc>
            </a:pPr>
          </a:p>
          <a:p>
            <a:pPr algn="l">
              <a:lnSpc>
                <a:spcPts val="2398"/>
              </a:lnSpc>
            </a:pPr>
            <a:r>
              <a:rPr lang="en-US" sz="214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-- 본인 세션에서 조회</a:t>
            </a:r>
          </a:p>
          <a:p>
            <a:pPr algn="l">
              <a:lnSpc>
                <a:spcPts val="2398"/>
              </a:lnSpc>
            </a:pPr>
            <a:r>
              <a:rPr lang="en-US" sz="214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SELECT COUNT(*)</a:t>
            </a:r>
          </a:p>
          <a:p>
            <a:pPr algn="l">
              <a:lnSpc>
                <a:spcPts val="2398"/>
              </a:lnSpc>
            </a:pPr>
            <a:r>
              <a:rPr lang="en-US" sz="214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FROM tblOffering;</a:t>
            </a:r>
          </a:p>
          <a:p>
            <a:pPr algn="l">
              <a:lnSpc>
                <a:spcPts val="2398"/>
              </a:lnSpc>
            </a:pPr>
            <a:r>
              <a:rPr lang="en-US" sz="214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-- 결과: 0</a:t>
            </a:r>
          </a:p>
          <a:p>
            <a:pPr algn="l">
              <a:lnSpc>
                <a:spcPts val="2398"/>
              </a:lnSpc>
            </a:pPr>
            <a:r>
              <a:rPr lang="en-US" sz="214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-- (COMMIT 전이라 안 보임)</a:t>
            </a:r>
          </a:p>
          <a:p>
            <a:pPr algn="l">
              <a:lnSpc>
                <a:spcPts val="2398"/>
              </a:lnSpc>
            </a:pPr>
          </a:p>
          <a:p>
            <a:pPr algn="l">
              <a:lnSpc>
                <a:spcPts val="2398"/>
              </a:lnSpc>
            </a:pPr>
            <a:r>
              <a:rPr lang="en-US" sz="214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-- 팀원이 COMMIT 실행</a:t>
            </a:r>
          </a:p>
          <a:p>
            <a:pPr algn="l">
              <a:lnSpc>
                <a:spcPts val="2398"/>
              </a:lnSpc>
            </a:pPr>
            <a:r>
              <a:rPr lang="en-US" sz="214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COMMIT;</a:t>
            </a:r>
          </a:p>
          <a:p>
            <a:pPr algn="l">
              <a:lnSpc>
                <a:spcPts val="2398"/>
              </a:lnSpc>
            </a:pPr>
          </a:p>
          <a:p>
            <a:pPr algn="l">
              <a:lnSpc>
                <a:spcPts val="2398"/>
              </a:lnSpc>
            </a:pPr>
            <a:r>
              <a:rPr lang="en-US" sz="214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-- 본인 세션에서 재조회</a:t>
            </a:r>
          </a:p>
          <a:p>
            <a:pPr algn="l">
              <a:lnSpc>
                <a:spcPts val="2398"/>
              </a:lnSpc>
            </a:pPr>
            <a:r>
              <a:rPr lang="en-US" sz="214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SELECT COUNT(*)</a:t>
            </a:r>
          </a:p>
          <a:p>
            <a:pPr algn="l">
              <a:lnSpc>
                <a:spcPts val="2398"/>
              </a:lnSpc>
            </a:pPr>
            <a:r>
              <a:rPr lang="en-US" sz="214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FROM tblOffering;</a:t>
            </a:r>
          </a:p>
          <a:p>
            <a:pPr algn="l">
              <a:lnSpc>
                <a:spcPts val="2398"/>
              </a:lnSpc>
            </a:pPr>
            <a:r>
              <a:rPr lang="en-US" sz="214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-- 결과: 52 (정상 반영)</a:t>
            </a:r>
          </a:p>
          <a:p>
            <a:pPr algn="l">
              <a:lnSpc>
                <a:spcPts val="2398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7673818" y="233477"/>
            <a:ext cx="85658" cy="380705"/>
          </a:xfrm>
          <a:custGeom>
            <a:avLst/>
            <a:gdLst/>
            <a:ahLst/>
            <a:cxnLst/>
            <a:rect r="r" b="b" t="t" l="l"/>
            <a:pathLst>
              <a:path h="380705" w="85658">
                <a:moveTo>
                  <a:pt x="0" y="0"/>
                </a:moveTo>
                <a:lnTo>
                  <a:pt x="85659" y="0"/>
                </a:lnTo>
                <a:lnTo>
                  <a:pt x="85659" y="380705"/>
                </a:lnTo>
                <a:lnTo>
                  <a:pt x="0" y="380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559" t="0" r="-554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7287" y="2061420"/>
            <a:ext cx="17053417" cy="7607551"/>
          </a:xfrm>
          <a:custGeom>
            <a:avLst/>
            <a:gdLst/>
            <a:ahLst/>
            <a:cxnLst/>
            <a:rect r="r" b="b" t="t" l="l"/>
            <a:pathLst>
              <a:path h="7607551" w="17053417">
                <a:moveTo>
                  <a:pt x="0" y="0"/>
                </a:moveTo>
                <a:lnTo>
                  <a:pt x="17053417" y="0"/>
                </a:lnTo>
                <a:lnTo>
                  <a:pt x="17053417" y="7607550"/>
                </a:lnTo>
                <a:lnTo>
                  <a:pt x="0" y="76075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" r="0" b="-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81075" y="1047750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4"/>
                </a:lnTo>
                <a:lnTo>
                  <a:pt x="0" y="3839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920610" y="2045218"/>
            <a:ext cx="281750" cy="894493"/>
            <a:chOff x="0" y="0"/>
            <a:chExt cx="375666" cy="11926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5666" cy="1192657"/>
            </a:xfrm>
            <a:custGeom>
              <a:avLst/>
              <a:gdLst/>
              <a:ahLst/>
              <a:cxnLst/>
              <a:rect r="r" b="b" t="t" l="l"/>
              <a:pathLst>
                <a:path h="1192657" w="375666">
                  <a:moveTo>
                    <a:pt x="0" y="0"/>
                  </a:moveTo>
                  <a:lnTo>
                    <a:pt x="375666" y="0"/>
                  </a:lnTo>
                  <a:lnTo>
                    <a:pt x="375666" y="1192657"/>
                  </a:lnTo>
                  <a:lnTo>
                    <a:pt x="0" y="119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67" t="0" r="-267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93165" y="2821876"/>
            <a:ext cx="6973157" cy="6241066"/>
            <a:chOff x="0" y="0"/>
            <a:chExt cx="9297543" cy="83214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297543" cy="8321421"/>
            </a:xfrm>
            <a:custGeom>
              <a:avLst/>
              <a:gdLst/>
              <a:ahLst/>
              <a:cxnLst/>
              <a:rect r="r" b="b" t="t" l="l"/>
              <a:pathLst>
                <a:path h="8321421" w="9297543">
                  <a:moveTo>
                    <a:pt x="0" y="0"/>
                  </a:moveTo>
                  <a:lnTo>
                    <a:pt x="9297543" y="0"/>
                  </a:lnTo>
                  <a:lnTo>
                    <a:pt x="9297543" y="8321421"/>
                  </a:lnTo>
                  <a:lnTo>
                    <a:pt x="0" y="8321421"/>
                  </a:lnTo>
                  <a:close/>
                </a:path>
              </a:pathLst>
            </a:custGeom>
            <a:blipFill>
              <a:blip r:embed="rId9"/>
              <a:stretch>
                <a:fillRect l="-5168" t="0" r="-5168" b="0"/>
              </a:stretch>
            </a:blipFill>
            <a:ln w="19050" cap="sq">
              <a:solidFill>
                <a:srgbClr val="222222"/>
              </a:solidFill>
              <a:prstDash val="solid"/>
              <a:miter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9144000" y="3351905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5"/>
                </a:lnTo>
                <a:lnTo>
                  <a:pt x="0" y="168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832" t="0" r="-832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241431" y="5343268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6"/>
                </a:lnTo>
                <a:lnTo>
                  <a:pt x="0" y="1683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832" t="0" r="-832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241431" y="7231723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6"/>
                </a:lnTo>
                <a:lnTo>
                  <a:pt x="0" y="1683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832" t="0" r="-832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17637" y="1073391"/>
            <a:ext cx="14440576" cy="651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30"/>
              </a:lnSpc>
            </a:pPr>
            <a:r>
              <a:rPr lang="en-US" sz="6011" spc="-180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트러블슈팅 : 동일 이름 시퀀스 중복 생성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05359" y="3328073"/>
            <a:ext cx="3205496" cy="377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3197" spc="-125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문제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02791" y="5328961"/>
            <a:ext cx="3205496" cy="377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3197" spc="-125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원인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02791" y="7211578"/>
            <a:ext cx="3205496" cy="377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3197" spc="-125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해결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3687661"/>
            <a:ext cx="7483164" cy="1066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7"/>
              </a:lnSpc>
            </a:pPr>
            <a:r>
              <a:rPr lang="en-US" sz="2498" spc="-24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CREATE SEQUENCE tblGrade_seq 실행 시 이미 존재하는 객체라는 에러 발생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241431" y="5625922"/>
            <a:ext cx="7483164" cy="1066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7"/>
              </a:lnSpc>
            </a:pPr>
            <a:r>
              <a:rPr lang="en-US" sz="2498" spc="-24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같은 계정을 팀원들이 공유하는 구조에서 동일 이름 시퀀스 중복 생성 시도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41431" y="7512577"/>
            <a:ext cx="7483164" cy="1066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7"/>
              </a:lnSpc>
            </a:pPr>
            <a:r>
              <a:rPr lang="en-US" sz="2498" spc="-24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생성 전 기존 객체 목록을 조회하는 습관화, 이미 있으면 CREATE 생략하고 바로 사용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30119" y="3132525"/>
            <a:ext cx="7766256" cy="4945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203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CREATE SEQUENCE tblGrade_seq;</a:t>
            </a:r>
          </a:p>
          <a:p>
            <a:pPr algn="l">
              <a:lnSpc>
                <a:spcPts val="2277"/>
              </a:lnSpc>
            </a:pPr>
            <a:r>
              <a:rPr lang="en-US" sz="203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-- ORA-00955:</a:t>
            </a:r>
          </a:p>
          <a:p>
            <a:pPr algn="l">
              <a:lnSpc>
                <a:spcPts val="2277"/>
              </a:lnSpc>
            </a:pPr>
            <a:r>
              <a:rPr lang="en-US" sz="203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-- 이미 사용 중인 이름입니다</a:t>
            </a:r>
          </a:p>
          <a:p>
            <a:pPr algn="l">
              <a:lnSpc>
                <a:spcPts val="2277"/>
              </a:lnSpc>
            </a:pPr>
          </a:p>
          <a:p>
            <a:pPr algn="l">
              <a:lnSpc>
                <a:spcPts val="2277"/>
              </a:lnSpc>
            </a:pPr>
            <a:r>
              <a:rPr lang="en-US" sz="203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-- 해결: 기존 시퀀스 확인</a:t>
            </a:r>
          </a:p>
          <a:p>
            <a:pPr algn="l">
              <a:lnSpc>
                <a:spcPts val="2277"/>
              </a:lnSpc>
            </a:pPr>
            <a:r>
              <a:rPr lang="en-US" sz="203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SELECT sequence_name</a:t>
            </a:r>
          </a:p>
          <a:p>
            <a:pPr algn="l">
              <a:lnSpc>
                <a:spcPts val="2277"/>
              </a:lnSpc>
            </a:pPr>
            <a:r>
              <a:rPr lang="en-US" sz="203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FROM user_sequences</a:t>
            </a:r>
          </a:p>
          <a:p>
            <a:pPr algn="l">
              <a:lnSpc>
                <a:spcPts val="2277"/>
              </a:lnSpc>
            </a:pPr>
            <a:r>
              <a:rPr lang="en-US" sz="203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WHERE sequence_name</a:t>
            </a:r>
          </a:p>
          <a:p>
            <a:pPr algn="l">
              <a:lnSpc>
                <a:spcPts val="2277"/>
              </a:lnSpc>
            </a:pPr>
            <a:r>
              <a:rPr lang="en-US" sz="203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= 'TBLGRADE_SEQ';</a:t>
            </a:r>
          </a:p>
          <a:p>
            <a:pPr algn="l">
              <a:lnSpc>
                <a:spcPts val="2277"/>
              </a:lnSpc>
            </a:pPr>
            <a:r>
              <a:rPr lang="en-US" sz="203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-- 이미 존재함 확인</a:t>
            </a:r>
          </a:p>
          <a:p>
            <a:pPr algn="l">
              <a:lnSpc>
                <a:spcPts val="2277"/>
              </a:lnSpc>
            </a:pPr>
          </a:p>
          <a:p>
            <a:pPr algn="l">
              <a:lnSpc>
                <a:spcPts val="2277"/>
              </a:lnSpc>
            </a:pPr>
            <a:r>
              <a:rPr lang="en-US" sz="203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-- 새로 만들지 않고</a:t>
            </a:r>
          </a:p>
          <a:p>
            <a:pPr algn="l">
              <a:lnSpc>
                <a:spcPts val="2277"/>
              </a:lnSpc>
            </a:pPr>
            <a:r>
              <a:rPr lang="en-US" sz="203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-- 기존 시퀀스 그대로 사용</a:t>
            </a:r>
          </a:p>
          <a:p>
            <a:pPr algn="l">
              <a:lnSpc>
                <a:spcPts val="2277"/>
              </a:lnSpc>
            </a:pPr>
            <a:r>
              <a:rPr lang="en-US" sz="203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INSERT INTO tblGrade(</a:t>
            </a:r>
          </a:p>
          <a:p>
            <a:pPr algn="l">
              <a:lnSpc>
                <a:spcPts val="2277"/>
              </a:lnSpc>
            </a:pPr>
            <a:r>
              <a:rPr lang="en-US" sz="203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gradeNumber, ...)</a:t>
            </a:r>
          </a:p>
          <a:p>
            <a:pPr algn="l">
              <a:lnSpc>
                <a:spcPts val="2277"/>
              </a:lnSpc>
            </a:pPr>
            <a:r>
              <a:rPr lang="en-US" sz="203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VALUES (</a:t>
            </a:r>
          </a:p>
          <a:p>
            <a:pPr algn="l">
              <a:lnSpc>
                <a:spcPts val="2277"/>
              </a:lnSpc>
            </a:pPr>
            <a:r>
              <a:rPr lang="en-US" sz="203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tblGrade_seq.NEXTVAL, ...);</a:t>
            </a:r>
          </a:p>
          <a:p>
            <a:pPr algn="l">
              <a:lnSpc>
                <a:spcPts val="2277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7673818" y="233477"/>
            <a:ext cx="85658" cy="380705"/>
          </a:xfrm>
          <a:custGeom>
            <a:avLst/>
            <a:gdLst/>
            <a:ahLst/>
            <a:cxnLst/>
            <a:rect r="r" b="b" t="t" l="l"/>
            <a:pathLst>
              <a:path h="380705" w="85658">
                <a:moveTo>
                  <a:pt x="0" y="0"/>
                </a:moveTo>
                <a:lnTo>
                  <a:pt x="85659" y="0"/>
                </a:lnTo>
                <a:lnTo>
                  <a:pt x="85659" y="380705"/>
                </a:lnTo>
                <a:lnTo>
                  <a:pt x="0" y="380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559" t="0" r="-554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7287" y="2061420"/>
            <a:ext cx="17053417" cy="7607551"/>
          </a:xfrm>
          <a:custGeom>
            <a:avLst/>
            <a:gdLst/>
            <a:ahLst/>
            <a:cxnLst/>
            <a:rect r="r" b="b" t="t" l="l"/>
            <a:pathLst>
              <a:path h="7607551" w="17053417">
                <a:moveTo>
                  <a:pt x="0" y="0"/>
                </a:moveTo>
                <a:lnTo>
                  <a:pt x="17053417" y="0"/>
                </a:lnTo>
                <a:lnTo>
                  <a:pt x="17053417" y="7607550"/>
                </a:lnTo>
                <a:lnTo>
                  <a:pt x="0" y="76075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" r="0" b="-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81075" y="1047750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4"/>
                </a:lnTo>
                <a:lnTo>
                  <a:pt x="0" y="3839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920610" y="2045218"/>
            <a:ext cx="281750" cy="894493"/>
            <a:chOff x="0" y="0"/>
            <a:chExt cx="375666" cy="11926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5666" cy="1192657"/>
            </a:xfrm>
            <a:custGeom>
              <a:avLst/>
              <a:gdLst/>
              <a:ahLst/>
              <a:cxnLst/>
              <a:rect r="r" b="b" t="t" l="l"/>
              <a:pathLst>
                <a:path h="1192657" w="375666">
                  <a:moveTo>
                    <a:pt x="0" y="0"/>
                  </a:moveTo>
                  <a:lnTo>
                    <a:pt x="375666" y="0"/>
                  </a:lnTo>
                  <a:lnTo>
                    <a:pt x="375666" y="1192657"/>
                  </a:lnTo>
                  <a:lnTo>
                    <a:pt x="0" y="119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67" t="0" r="-267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93165" y="2821876"/>
            <a:ext cx="6973157" cy="6241066"/>
            <a:chOff x="0" y="0"/>
            <a:chExt cx="9297543" cy="83214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297543" cy="8321421"/>
            </a:xfrm>
            <a:custGeom>
              <a:avLst/>
              <a:gdLst/>
              <a:ahLst/>
              <a:cxnLst/>
              <a:rect r="r" b="b" t="t" l="l"/>
              <a:pathLst>
                <a:path h="8321421" w="9297543">
                  <a:moveTo>
                    <a:pt x="0" y="0"/>
                  </a:moveTo>
                  <a:lnTo>
                    <a:pt x="9297543" y="0"/>
                  </a:lnTo>
                  <a:lnTo>
                    <a:pt x="9297543" y="8321421"/>
                  </a:lnTo>
                  <a:lnTo>
                    <a:pt x="0" y="8321421"/>
                  </a:lnTo>
                  <a:close/>
                </a:path>
              </a:pathLst>
            </a:custGeom>
            <a:blipFill>
              <a:blip r:embed="rId9"/>
              <a:stretch>
                <a:fillRect l="-5168" t="0" r="-5168" b="0"/>
              </a:stretch>
            </a:blipFill>
            <a:ln w="19050" cap="sq">
              <a:solidFill>
                <a:srgbClr val="222222"/>
              </a:solidFill>
              <a:prstDash val="solid"/>
              <a:miter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9144000" y="3351905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5"/>
                </a:lnTo>
                <a:lnTo>
                  <a:pt x="0" y="168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832" t="0" r="-832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241431" y="5343268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6"/>
                </a:lnTo>
                <a:lnTo>
                  <a:pt x="0" y="1683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832" t="0" r="-832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241431" y="7231723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6"/>
                </a:lnTo>
                <a:lnTo>
                  <a:pt x="0" y="1683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832" t="0" r="-832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17637" y="1073391"/>
            <a:ext cx="14440576" cy="651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30"/>
              </a:lnSpc>
            </a:pPr>
            <a:r>
              <a:rPr lang="en-US" sz="6011" spc="-180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트러블슈팅 : 부모 테이블 선삭제 오류 에러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05359" y="3328073"/>
            <a:ext cx="3205496" cy="377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3197" spc="-125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문제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02791" y="5328961"/>
            <a:ext cx="3205496" cy="377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3197" spc="-125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원인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02791" y="7211578"/>
            <a:ext cx="3205496" cy="377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3197" spc="-125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해결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3687661"/>
            <a:ext cx="7483164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7"/>
              </a:lnSpc>
            </a:pPr>
            <a:r>
              <a:rPr lang="en-US" sz="2498" spc="-24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부모 테이블을 자식 테이블보다 먼저 삭제하려다 에러 발생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241431" y="5625922"/>
            <a:ext cx="7483164" cy="1066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7"/>
              </a:lnSpc>
            </a:pPr>
            <a:r>
              <a:rPr lang="en-US" sz="2498" spc="-24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이 테이블을 참조하는 데이터가 있다는 제약 위반  생성의 역순으로 삭제해야 함을 놓침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41431" y="7512577"/>
            <a:ext cx="7483164" cy="914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7"/>
              </a:lnSpc>
            </a:pPr>
            <a:r>
              <a:rPr lang="en-US" sz="2498" spc="-22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삭제 시 자식 테이블 → 부모 테이블 순서로 진행하도록 </a:t>
            </a:r>
          </a:p>
          <a:p>
            <a:pPr algn="l">
              <a:lnSpc>
                <a:spcPts val="3747"/>
              </a:lnSpc>
            </a:pPr>
            <a:r>
              <a:rPr lang="en-US" sz="2498" spc="-24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순서 재정립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30119" y="3132525"/>
            <a:ext cx="7766256" cy="5222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203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DROP TABLE tblCourse;</a:t>
            </a:r>
          </a:p>
          <a:p>
            <a:pPr algn="l">
              <a:lnSpc>
                <a:spcPts val="2277"/>
              </a:lnSpc>
            </a:pPr>
            <a:r>
              <a:rPr lang="en-US" sz="203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-- ORA-02449:</a:t>
            </a:r>
          </a:p>
          <a:p>
            <a:pPr algn="l">
              <a:lnSpc>
                <a:spcPts val="2277"/>
              </a:lnSpc>
            </a:pPr>
            <a:r>
              <a:rPr lang="en-US" sz="203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-- FK로 참조되고 있는</a:t>
            </a:r>
          </a:p>
          <a:p>
            <a:pPr algn="l">
              <a:lnSpc>
                <a:spcPts val="2277"/>
              </a:lnSpc>
            </a:pPr>
            <a:r>
              <a:rPr lang="en-US" sz="203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-- unique/primary key 입니다</a:t>
            </a:r>
          </a:p>
          <a:p>
            <a:pPr algn="l">
              <a:lnSpc>
                <a:spcPts val="2277"/>
              </a:lnSpc>
            </a:pPr>
          </a:p>
          <a:p>
            <a:pPr algn="l">
              <a:lnSpc>
                <a:spcPts val="2277"/>
              </a:lnSpc>
            </a:pPr>
            <a:r>
              <a:rPr lang="en-US" sz="203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-- 원인: tblOffering이</a:t>
            </a:r>
          </a:p>
          <a:p>
            <a:pPr algn="l">
              <a:lnSpc>
                <a:spcPts val="2277"/>
              </a:lnSpc>
            </a:pPr>
            <a:r>
              <a:rPr lang="en-US" sz="203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-- tblCourse를 참조 중</a:t>
            </a:r>
          </a:p>
          <a:p>
            <a:pPr algn="l">
              <a:lnSpc>
                <a:spcPts val="2277"/>
              </a:lnSpc>
            </a:pPr>
          </a:p>
          <a:p>
            <a:pPr algn="l">
              <a:lnSpc>
                <a:spcPts val="2277"/>
              </a:lnSpc>
            </a:pPr>
            <a:r>
              <a:rPr lang="en-US" sz="203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-- 해결: 자식부터 삭제</a:t>
            </a:r>
          </a:p>
          <a:p>
            <a:pPr algn="l">
              <a:lnSpc>
                <a:spcPts val="2277"/>
              </a:lnSpc>
            </a:pPr>
            <a:r>
              <a:rPr lang="en-US" sz="203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DROP TABLE tblGrade;</a:t>
            </a:r>
          </a:p>
          <a:p>
            <a:pPr algn="l">
              <a:lnSpc>
                <a:spcPts val="2277"/>
              </a:lnSpc>
            </a:pPr>
            <a:r>
              <a:rPr lang="en-US" sz="203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DROP TABLE tblScoring;</a:t>
            </a:r>
          </a:p>
          <a:p>
            <a:pPr algn="l">
              <a:lnSpc>
                <a:spcPts val="2277"/>
              </a:lnSpc>
            </a:pPr>
            <a:r>
              <a:rPr lang="en-US" sz="203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DROP TABLE tblOffering;</a:t>
            </a:r>
          </a:p>
          <a:p>
            <a:pPr algn="l">
              <a:lnSpc>
                <a:spcPts val="2277"/>
              </a:lnSpc>
            </a:pPr>
            <a:r>
              <a:rPr lang="en-US" sz="203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DROP TABLE tblCourse;</a:t>
            </a:r>
          </a:p>
          <a:p>
            <a:pPr algn="l">
              <a:lnSpc>
                <a:spcPts val="2277"/>
              </a:lnSpc>
            </a:pPr>
            <a:r>
              <a:rPr lang="en-US" sz="203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-- 정상 삭제</a:t>
            </a:r>
          </a:p>
          <a:p>
            <a:pPr algn="l">
              <a:lnSpc>
                <a:spcPts val="2277"/>
              </a:lnSpc>
            </a:pPr>
          </a:p>
          <a:p>
            <a:pPr algn="l">
              <a:lnSpc>
                <a:spcPts val="2277"/>
              </a:lnSpc>
            </a:pPr>
            <a:r>
              <a:rPr lang="en-US" sz="203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-- 또는 CASCADE 옵션 사용</a:t>
            </a:r>
          </a:p>
          <a:p>
            <a:pPr algn="l">
              <a:lnSpc>
                <a:spcPts val="2277"/>
              </a:lnSpc>
            </a:pPr>
            <a:r>
              <a:rPr lang="en-US" sz="203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DROP TABLE tblCourse</a:t>
            </a:r>
          </a:p>
          <a:p>
            <a:pPr algn="l">
              <a:lnSpc>
                <a:spcPts val="2277"/>
              </a:lnSpc>
            </a:pPr>
            <a:r>
              <a:rPr lang="en-US" sz="203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CASCADE CONSTRAINTS;</a:t>
            </a:r>
          </a:p>
          <a:p>
            <a:pPr algn="l">
              <a:lnSpc>
                <a:spcPts val="2277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7673818" y="233477"/>
            <a:ext cx="85658" cy="380705"/>
          </a:xfrm>
          <a:custGeom>
            <a:avLst/>
            <a:gdLst/>
            <a:ahLst/>
            <a:cxnLst/>
            <a:rect r="r" b="b" t="t" l="l"/>
            <a:pathLst>
              <a:path h="380705" w="85658">
                <a:moveTo>
                  <a:pt x="0" y="0"/>
                </a:moveTo>
                <a:lnTo>
                  <a:pt x="85659" y="0"/>
                </a:lnTo>
                <a:lnTo>
                  <a:pt x="85659" y="380705"/>
                </a:lnTo>
                <a:lnTo>
                  <a:pt x="0" y="380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559" t="0" r="-554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7287" y="2061420"/>
            <a:ext cx="17053417" cy="7607551"/>
          </a:xfrm>
          <a:custGeom>
            <a:avLst/>
            <a:gdLst/>
            <a:ahLst/>
            <a:cxnLst/>
            <a:rect r="r" b="b" t="t" l="l"/>
            <a:pathLst>
              <a:path h="7607551" w="17053417">
                <a:moveTo>
                  <a:pt x="0" y="0"/>
                </a:moveTo>
                <a:lnTo>
                  <a:pt x="17053417" y="0"/>
                </a:lnTo>
                <a:lnTo>
                  <a:pt x="17053417" y="7607550"/>
                </a:lnTo>
                <a:lnTo>
                  <a:pt x="0" y="76075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" r="0" b="-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81075" y="1047750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4"/>
                </a:lnTo>
                <a:lnTo>
                  <a:pt x="0" y="3839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920610" y="2045218"/>
            <a:ext cx="281750" cy="894493"/>
            <a:chOff x="0" y="0"/>
            <a:chExt cx="375666" cy="11926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5666" cy="1192657"/>
            </a:xfrm>
            <a:custGeom>
              <a:avLst/>
              <a:gdLst/>
              <a:ahLst/>
              <a:cxnLst/>
              <a:rect r="r" b="b" t="t" l="l"/>
              <a:pathLst>
                <a:path h="1192657" w="375666">
                  <a:moveTo>
                    <a:pt x="0" y="0"/>
                  </a:moveTo>
                  <a:lnTo>
                    <a:pt x="375666" y="0"/>
                  </a:lnTo>
                  <a:lnTo>
                    <a:pt x="375666" y="1192657"/>
                  </a:lnTo>
                  <a:lnTo>
                    <a:pt x="0" y="119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67" t="0" r="-267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93165" y="2821876"/>
            <a:ext cx="6973157" cy="6241066"/>
            <a:chOff x="0" y="0"/>
            <a:chExt cx="9297543" cy="83214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297543" cy="8321421"/>
            </a:xfrm>
            <a:custGeom>
              <a:avLst/>
              <a:gdLst/>
              <a:ahLst/>
              <a:cxnLst/>
              <a:rect r="r" b="b" t="t" l="l"/>
              <a:pathLst>
                <a:path h="8321421" w="9297543">
                  <a:moveTo>
                    <a:pt x="0" y="0"/>
                  </a:moveTo>
                  <a:lnTo>
                    <a:pt x="9297543" y="0"/>
                  </a:lnTo>
                  <a:lnTo>
                    <a:pt x="9297543" y="8321421"/>
                  </a:lnTo>
                  <a:lnTo>
                    <a:pt x="0" y="8321421"/>
                  </a:lnTo>
                  <a:close/>
                </a:path>
              </a:pathLst>
            </a:custGeom>
            <a:blipFill>
              <a:blip r:embed="rId9"/>
              <a:stretch>
                <a:fillRect l="-5168" t="0" r="-5168" b="0"/>
              </a:stretch>
            </a:blipFill>
            <a:ln w="19050" cap="sq">
              <a:solidFill>
                <a:srgbClr val="222222"/>
              </a:solidFill>
              <a:prstDash val="solid"/>
              <a:miter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9144000" y="3351905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5"/>
                </a:lnTo>
                <a:lnTo>
                  <a:pt x="0" y="168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832" t="0" r="-832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241431" y="5343268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6"/>
                </a:lnTo>
                <a:lnTo>
                  <a:pt x="0" y="1683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832" t="0" r="-832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241431" y="7684284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6"/>
                </a:lnTo>
                <a:lnTo>
                  <a:pt x="0" y="1683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832" t="0" r="-832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17637" y="1073391"/>
            <a:ext cx="14440576" cy="651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30"/>
              </a:lnSpc>
            </a:pPr>
            <a:r>
              <a:rPr lang="en-US" sz="6011" spc="-180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트러블슈팅 : 수료 처리 기준 모호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05359" y="3328073"/>
            <a:ext cx="3205496" cy="377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3197" spc="-125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문제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02791" y="5328961"/>
            <a:ext cx="3205496" cy="377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3197" spc="-125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원인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02791" y="7664139"/>
            <a:ext cx="3205496" cy="377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3197" spc="-125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해결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3687661"/>
            <a:ext cx="7483164" cy="1066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7"/>
              </a:lnSpc>
            </a:pPr>
            <a:r>
              <a:rPr lang="en-US" sz="2498" spc="-24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"수료 처리"라는 동일 요구사항을 팀원마다 다른 방식으로 구현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241431" y="5625922"/>
            <a:ext cx="7483164" cy="1381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7"/>
              </a:lnSpc>
            </a:pPr>
            <a:r>
              <a:rPr lang="en-US" sz="2498" spc="-22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한 팀원은 상태값(courseStatus='수료')으로, 다른 팀원은 별도 날짜 컬럼(completionDate IS NOT NULL)으로 </a:t>
            </a:r>
          </a:p>
          <a:p>
            <a:pPr algn="l">
              <a:lnSpc>
                <a:spcPts val="3747"/>
              </a:lnSpc>
            </a:pPr>
            <a:r>
              <a:rPr lang="en-US" sz="2498" spc="-24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각자 구현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41431" y="7965138"/>
            <a:ext cx="7483164" cy="914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7"/>
              </a:lnSpc>
            </a:pPr>
            <a:r>
              <a:rPr lang="en-US" sz="2498" spc="-22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요구사항 해석 기준을 팀 회의에서 사전에 통일하고 </a:t>
            </a:r>
          </a:p>
          <a:p>
            <a:pPr algn="l">
              <a:lnSpc>
                <a:spcPts val="3747"/>
              </a:lnSpc>
            </a:pPr>
            <a:r>
              <a:rPr lang="en-US" sz="2498" spc="-24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문서화하는 절차 추가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30119" y="3132525"/>
            <a:ext cx="7766256" cy="4945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203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-- 팀원 A 방식</a:t>
            </a:r>
          </a:p>
          <a:p>
            <a:pPr algn="l">
              <a:lnSpc>
                <a:spcPts val="2277"/>
              </a:lnSpc>
            </a:pPr>
            <a:r>
              <a:rPr lang="en-US" sz="203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SELECT * FROM tblCourse</a:t>
            </a:r>
          </a:p>
          <a:p>
            <a:pPr algn="l">
              <a:lnSpc>
                <a:spcPts val="2277"/>
              </a:lnSpc>
            </a:pPr>
            <a:r>
              <a:rPr lang="en-US" sz="203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WHERE courseStatus = '수료';</a:t>
            </a:r>
          </a:p>
          <a:p>
            <a:pPr algn="l">
              <a:lnSpc>
                <a:spcPts val="2277"/>
              </a:lnSpc>
            </a:pPr>
          </a:p>
          <a:p>
            <a:pPr algn="l">
              <a:lnSpc>
                <a:spcPts val="2277"/>
              </a:lnSpc>
            </a:pPr>
            <a:r>
              <a:rPr lang="en-US" sz="203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-- 팀원 B 방식</a:t>
            </a:r>
          </a:p>
          <a:p>
            <a:pPr algn="l">
              <a:lnSpc>
                <a:spcPts val="2277"/>
              </a:lnSpc>
            </a:pPr>
            <a:r>
              <a:rPr lang="en-US" sz="203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SELECT * FROM tblEnrollment</a:t>
            </a:r>
          </a:p>
          <a:p>
            <a:pPr algn="l">
              <a:lnSpc>
                <a:spcPts val="2277"/>
              </a:lnSpc>
            </a:pPr>
            <a:r>
              <a:rPr lang="en-US" sz="203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WHERE completionDate</a:t>
            </a:r>
          </a:p>
          <a:p>
            <a:pPr algn="l">
              <a:lnSpc>
                <a:spcPts val="2277"/>
              </a:lnSpc>
            </a:pPr>
            <a:r>
              <a:rPr lang="en-US" sz="203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IS NOT NULL;</a:t>
            </a:r>
          </a:p>
          <a:p>
            <a:pPr algn="l">
              <a:lnSpc>
                <a:spcPts val="2277"/>
              </a:lnSpc>
            </a:pPr>
          </a:p>
          <a:p>
            <a:pPr algn="l">
              <a:lnSpc>
                <a:spcPts val="2277"/>
              </a:lnSpc>
            </a:pPr>
            <a:r>
              <a:rPr lang="en-US" sz="203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-- 두 결과가 서로 다르게 나옴</a:t>
            </a:r>
          </a:p>
          <a:p>
            <a:pPr algn="l">
              <a:lnSpc>
                <a:spcPts val="2277"/>
              </a:lnSpc>
            </a:pPr>
            <a:r>
              <a:rPr lang="en-US" sz="203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-- → 어느 기준이 맞는지 회의</a:t>
            </a:r>
          </a:p>
          <a:p>
            <a:pPr algn="l">
              <a:lnSpc>
                <a:spcPts val="2277"/>
              </a:lnSpc>
            </a:pPr>
          </a:p>
          <a:p>
            <a:pPr algn="l">
              <a:lnSpc>
                <a:spcPts val="2277"/>
              </a:lnSpc>
            </a:pPr>
            <a:r>
              <a:rPr lang="en-US" sz="203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-- 해결: 기준 통일</a:t>
            </a:r>
          </a:p>
          <a:p>
            <a:pPr algn="l">
              <a:lnSpc>
                <a:spcPts val="2277"/>
              </a:lnSpc>
            </a:pPr>
            <a:r>
              <a:rPr lang="en-US" sz="203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-- courseStatus = '수료' 를</a:t>
            </a:r>
          </a:p>
          <a:p>
            <a:pPr algn="l">
              <a:lnSpc>
                <a:spcPts val="2277"/>
              </a:lnSpc>
            </a:pPr>
            <a:r>
              <a:rPr lang="en-US" sz="203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-- 공식 판단 기준으로 확정</a:t>
            </a:r>
          </a:p>
          <a:p>
            <a:pPr algn="l">
              <a:lnSpc>
                <a:spcPts val="2277"/>
              </a:lnSpc>
            </a:pPr>
            <a:r>
              <a:rPr lang="en-US" sz="203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-- (completionDate는</a:t>
            </a:r>
          </a:p>
          <a:p>
            <a:pPr algn="l">
              <a:lnSpc>
                <a:spcPts val="2277"/>
              </a:lnSpc>
            </a:pPr>
            <a:r>
              <a:rPr lang="en-US" sz="203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--개인별 수료일자 기록용)</a:t>
            </a:r>
          </a:p>
          <a:p>
            <a:pPr algn="l">
              <a:lnSpc>
                <a:spcPts val="2277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7673818" y="233477"/>
            <a:ext cx="85658" cy="380705"/>
          </a:xfrm>
          <a:custGeom>
            <a:avLst/>
            <a:gdLst/>
            <a:ahLst/>
            <a:cxnLst/>
            <a:rect r="r" b="b" t="t" l="l"/>
            <a:pathLst>
              <a:path h="380705" w="85658">
                <a:moveTo>
                  <a:pt x="0" y="0"/>
                </a:moveTo>
                <a:lnTo>
                  <a:pt x="85659" y="0"/>
                </a:lnTo>
                <a:lnTo>
                  <a:pt x="85659" y="380705"/>
                </a:lnTo>
                <a:lnTo>
                  <a:pt x="0" y="380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559" t="0" r="-554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17637" y="1073391"/>
            <a:ext cx="5306244" cy="651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30"/>
              </a:lnSpc>
            </a:pPr>
            <a:r>
              <a:rPr lang="en-US" sz="6011" spc="-180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업무 SQL 예시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17287" y="2062162"/>
            <a:ext cx="17053417" cy="7607551"/>
          </a:xfrm>
          <a:custGeom>
            <a:avLst/>
            <a:gdLst/>
            <a:ahLst/>
            <a:cxnLst/>
            <a:rect r="r" b="b" t="t" l="l"/>
            <a:pathLst>
              <a:path h="7607551" w="17053417">
                <a:moveTo>
                  <a:pt x="0" y="0"/>
                </a:moveTo>
                <a:lnTo>
                  <a:pt x="17053417" y="0"/>
                </a:lnTo>
                <a:lnTo>
                  <a:pt x="17053417" y="7607551"/>
                </a:lnTo>
                <a:lnTo>
                  <a:pt x="0" y="76075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" r="0" b="-2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81075" y="1047750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4"/>
                </a:lnTo>
                <a:lnTo>
                  <a:pt x="0" y="3839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920610" y="2045218"/>
            <a:ext cx="281750" cy="894493"/>
            <a:chOff x="0" y="0"/>
            <a:chExt cx="375666" cy="11926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5666" cy="1192657"/>
            </a:xfrm>
            <a:custGeom>
              <a:avLst/>
              <a:gdLst/>
              <a:ahLst/>
              <a:cxnLst/>
              <a:rect r="r" b="b" t="t" l="l"/>
              <a:pathLst>
                <a:path h="1192657" w="375666">
                  <a:moveTo>
                    <a:pt x="0" y="0"/>
                  </a:moveTo>
                  <a:lnTo>
                    <a:pt x="375666" y="0"/>
                  </a:lnTo>
                  <a:lnTo>
                    <a:pt x="375666" y="1192657"/>
                  </a:lnTo>
                  <a:lnTo>
                    <a:pt x="0" y="119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67" t="0" r="-267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58598" y="3312157"/>
            <a:ext cx="7164800" cy="5278184"/>
            <a:chOff x="0" y="0"/>
            <a:chExt cx="9553067" cy="70375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53067" cy="7037578"/>
            </a:xfrm>
            <a:custGeom>
              <a:avLst/>
              <a:gdLst/>
              <a:ahLst/>
              <a:cxnLst/>
              <a:rect r="r" b="b" t="t" l="l"/>
              <a:pathLst>
                <a:path h="7037578" w="9553067">
                  <a:moveTo>
                    <a:pt x="0" y="0"/>
                  </a:moveTo>
                  <a:lnTo>
                    <a:pt x="9553067" y="0"/>
                  </a:lnTo>
                  <a:lnTo>
                    <a:pt x="9553067" y="7037578"/>
                  </a:lnTo>
                  <a:lnTo>
                    <a:pt x="0" y="7037578"/>
                  </a:lnTo>
                  <a:close/>
                </a:path>
              </a:pathLst>
            </a:custGeom>
            <a:blipFill>
              <a:blip r:embed="rId9"/>
              <a:stretch>
                <a:fillRect l="-5251" t="0" r="-5251" b="0"/>
              </a:stretch>
            </a:blipFill>
            <a:ln w="19050" cap="sq">
              <a:solidFill>
                <a:srgbClr val="222222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9833277" y="3843061"/>
            <a:ext cx="3205496" cy="377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3197" spc="-125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출결 관리 쿼리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33277" y="5529615"/>
            <a:ext cx="3205496" cy="377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3197" spc="-125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성적 집계 쿼리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33277" y="7149503"/>
            <a:ext cx="3205496" cy="377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3197" spc="-125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과정 생성 쿼리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71917" y="4202659"/>
            <a:ext cx="7483164" cy="600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7"/>
              </a:lnSpc>
            </a:pPr>
            <a:r>
              <a:rPr lang="en-US" sz="2498" spc="-24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교육생별 출결 현황과 결석 일수를 조회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71917" y="5826576"/>
            <a:ext cx="7483164" cy="600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7"/>
              </a:lnSpc>
            </a:pPr>
            <a:r>
              <a:rPr lang="en-US" sz="2498" spc="-24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과목별 배점과 성적을 집계하여 평균 산출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71917" y="7450503"/>
            <a:ext cx="7483164" cy="600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7"/>
              </a:lnSpc>
            </a:pPr>
            <a:r>
              <a:rPr lang="en-US" sz="2498" spc="-24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과정 기본정보와 운영기간을 등록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9471917" y="3866902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6"/>
                </a:lnTo>
                <a:lnTo>
                  <a:pt x="0" y="1683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832" t="0" r="-832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471917" y="5543921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6"/>
                </a:lnTo>
                <a:lnTo>
                  <a:pt x="0" y="1683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832" t="0" r="-832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471917" y="7169648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6"/>
                </a:lnTo>
                <a:lnTo>
                  <a:pt x="0" y="1683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832" t="0" r="-832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5862" y="2061420"/>
            <a:ext cx="17053417" cy="7607551"/>
          </a:xfrm>
          <a:custGeom>
            <a:avLst/>
            <a:gdLst/>
            <a:ahLst/>
            <a:cxnLst/>
            <a:rect r="r" b="b" t="t" l="l"/>
            <a:pathLst>
              <a:path h="7607551" w="17053417">
                <a:moveTo>
                  <a:pt x="0" y="0"/>
                </a:moveTo>
                <a:lnTo>
                  <a:pt x="17053417" y="0"/>
                </a:lnTo>
                <a:lnTo>
                  <a:pt x="17053417" y="7607550"/>
                </a:lnTo>
                <a:lnTo>
                  <a:pt x="0" y="7607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" r="0" b="-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920610" y="2045218"/>
            <a:ext cx="281750" cy="894493"/>
            <a:chOff x="0" y="0"/>
            <a:chExt cx="375666" cy="11926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5666" cy="1192657"/>
            </a:xfrm>
            <a:custGeom>
              <a:avLst/>
              <a:gdLst/>
              <a:ahLst/>
              <a:cxnLst/>
              <a:rect r="r" b="b" t="t" l="l"/>
              <a:pathLst>
                <a:path h="1192657" w="375666">
                  <a:moveTo>
                    <a:pt x="0" y="0"/>
                  </a:moveTo>
                  <a:lnTo>
                    <a:pt x="375666" y="0"/>
                  </a:lnTo>
                  <a:lnTo>
                    <a:pt x="375666" y="1192657"/>
                  </a:lnTo>
                  <a:lnTo>
                    <a:pt x="0" y="119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7" t="0" r="-267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836743" y="1183510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4"/>
                </a:lnTo>
                <a:lnTo>
                  <a:pt x="0" y="3839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20667" y="2939710"/>
            <a:ext cx="16312604" cy="3458715"/>
            <a:chOff x="0" y="0"/>
            <a:chExt cx="25677308" cy="54442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677290" cy="5444236"/>
            </a:xfrm>
            <a:custGeom>
              <a:avLst/>
              <a:gdLst/>
              <a:ahLst/>
              <a:cxnLst/>
              <a:rect r="r" b="b" t="t" l="l"/>
              <a:pathLst>
                <a:path h="5444236" w="25677290">
                  <a:moveTo>
                    <a:pt x="0" y="0"/>
                  </a:moveTo>
                  <a:lnTo>
                    <a:pt x="25677290" y="0"/>
                  </a:lnTo>
                  <a:lnTo>
                    <a:pt x="25677290" y="5444236"/>
                  </a:lnTo>
                  <a:lnTo>
                    <a:pt x="0" y="5444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9653" t="0" r="-9653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517637" y="1073391"/>
            <a:ext cx="6102991" cy="756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30"/>
              </a:lnSpc>
            </a:pPr>
            <a:r>
              <a:rPr lang="en-US" sz="6011" spc="-180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SQL 작성 및 표준화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7287" y="2061420"/>
            <a:ext cx="17053417" cy="7607551"/>
          </a:xfrm>
          <a:custGeom>
            <a:avLst/>
            <a:gdLst/>
            <a:ahLst/>
            <a:cxnLst/>
            <a:rect r="r" b="b" t="t" l="l"/>
            <a:pathLst>
              <a:path h="7607551" w="17053417">
                <a:moveTo>
                  <a:pt x="0" y="0"/>
                </a:moveTo>
                <a:lnTo>
                  <a:pt x="17053417" y="0"/>
                </a:lnTo>
                <a:lnTo>
                  <a:pt x="17053417" y="7607550"/>
                </a:lnTo>
                <a:lnTo>
                  <a:pt x="0" y="7607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" r="0" b="-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920610" y="2045218"/>
            <a:ext cx="281750" cy="894493"/>
            <a:chOff x="0" y="0"/>
            <a:chExt cx="375666" cy="11926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5666" cy="1192657"/>
            </a:xfrm>
            <a:custGeom>
              <a:avLst/>
              <a:gdLst/>
              <a:ahLst/>
              <a:cxnLst/>
              <a:rect r="r" b="b" t="t" l="l"/>
              <a:pathLst>
                <a:path h="1192657" w="375666">
                  <a:moveTo>
                    <a:pt x="0" y="0"/>
                  </a:moveTo>
                  <a:lnTo>
                    <a:pt x="375666" y="0"/>
                  </a:lnTo>
                  <a:lnTo>
                    <a:pt x="375666" y="1192657"/>
                  </a:lnTo>
                  <a:lnTo>
                    <a:pt x="0" y="119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7" t="0" r="-267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81075" y="1047750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4"/>
                </a:lnTo>
                <a:lnTo>
                  <a:pt x="0" y="3839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64999" y="2939710"/>
            <a:ext cx="12702574" cy="2185644"/>
            <a:chOff x="0" y="0"/>
            <a:chExt cx="28423324" cy="48906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423307" cy="4890643"/>
            </a:xfrm>
            <a:custGeom>
              <a:avLst/>
              <a:gdLst/>
              <a:ahLst/>
              <a:cxnLst/>
              <a:rect r="r" b="b" t="t" l="l"/>
              <a:pathLst>
                <a:path h="4890643" w="28423307">
                  <a:moveTo>
                    <a:pt x="0" y="0"/>
                  </a:moveTo>
                  <a:lnTo>
                    <a:pt x="28423307" y="0"/>
                  </a:lnTo>
                  <a:lnTo>
                    <a:pt x="28423307" y="4890643"/>
                  </a:lnTo>
                  <a:lnTo>
                    <a:pt x="0" y="48906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209" r="0" b="-1208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517637" y="1073391"/>
            <a:ext cx="5813822" cy="756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30"/>
              </a:lnSpc>
            </a:pPr>
            <a:r>
              <a:rPr lang="en-US" sz="6011" spc="-180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쿼리문 정의서 목록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6812" y="2045218"/>
            <a:ext cx="17053417" cy="7607551"/>
          </a:xfrm>
          <a:custGeom>
            <a:avLst/>
            <a:gdLst/>
            <a:ahLst/>
            <a:cxnLst/>
            <a:rect r="r" b="b" t="t" l="l"/>
            <a:pathLst>
              <a:path h="7607551" w="17053417">
                <a:moveTo>
                  <a:pt x="0" y="0"/>
                </a:moveTo>
                <a:lnTo>
                  <a:pt x="17053417" y="0"/>
                </a:lnTo>
                <a:lnTo>
                  <a:pt x="17053417" y="7607550"/>
                </a:lnTo>
                <a:lnTo>
                  <a:pt x="0" y="7607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" r="0" b="-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185043" y="2045218"/>
            <a:ext cx="281750" cy="894493"/>
            <a:chOff x="0" y="0"/>
            <a:chExt cx="375666" cy="11926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5666" cy="1192657"/>
            </a:xfrm>
            <a:custGeom>
              <a:avLst/>
              <a:gdLst/>
              <a:ahLst/>
              <a:cxnLst/>
              <a:rect r="r" b="b" t="t" l="l"/>
              <a:pathLst>
                <a:path h="1192657" w="375666">
                  <a:moveTo>
                    <a:pt x="0" y="0"/>
                  </a:moveTo>
                  <a:lnTo>
                    <a:pt x="375666" y="0"/>
                  </a:lnTo>
                  <a:lnTo>
                    <a:pt x="375666" y="1192657"/>
                  </a:lnTo>
                  <a:lnTo>
                    <a:pt x="0" y="119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7" t="0" r="-267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245508" y="1047750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4"/>
                </a:lnTo>
                <a:lnTo>
                  <a:pt x="0" y="3839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29432" y="3719293"/>
            <a:ext cx="6220711" cy="4865929"/>
            <a:chOff x="0" y="0"/>
            <a:chExt cx="9480550" cy="74158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480550" cy="7415784"/>
            </a:xfrm>
            <a:custGeom>
              <a:avLst/>
              <a:gdLst/>
              <a:ahLst/>
              <a:cxnLst/>
              <a:rect r="r" b="b" t="t" l="l"/>
              <a:pathLst>
                <a:path h="7415784" w="9480550">
                  <a:moveTo>
                    <a:pt x="0" y="0"/>
                  </a:moveTo>
                  <a:lnTo>
                    <a:pt x="9480550" y="0"/>
                  </a:lnTo>
                  <a:lnTo>
                    <a:pt x="9480550" y="7415784"/>
                  </a:lnTo>
                  <a:lnTo>
                    <a:pt x="0" y="7415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0" y="3719293"/>
            <a:ext cx="6758566" cy="2905358"/>
            <a:chOff x="0" y="0"/>
            <a:chExt cx="11144402" cy="47907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144377" cy="4790694"/>
            </a:xfrm>
            <a:custGeom>
              <a:avLst/>
              <a:gdLst/>
              <a:ahLst/>
              <a:cxnLst/>
              <a:rect r="r" b="b" t="t" l="l"/>
              <a:pathLst>
                <a:path h="4790694" w="11144377">
                  <a:moveTo>
                    <a:pt x="0" y="0"/>
                  </a:moveTo>
                  <a:lnTo>
                    <a:pt x="11144377" y="0"/>
                  </a:lnTo>
                  <a:lnTo>
                    <a:pt x="11144377" y="4790694"/>
                  </a:lnTo>
                  <a:lnTo>
                    <a:pt x="0" y="4790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0" y="6624652"/>
            <a:ext cx="6758566" cy="1301776"/>
            <a:chOff x="0" y="0"/>
            <a:chExt cx="11731908" cy="22596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731882" cy="2259711"/>
            </a:xfrm>
            <a:custGeom>
              <a:avLst/>
              <a:gdLst/>
              <a:ahLst/>
              <a:cxnLst/>
              <a:rect r="r" b="b" t="t" l="l"/>
              <a:pathLst>
                <a:path h="2259711" w="11731882">
                  <a:moveTo>
                    <a:pt x="0" y="0"/>
                  </a:moveTo>
                  <a:lnTo>
                    <a:pt x="11731882" y="0"/>
                  </a:lnTo>
                  <a:lnTo>
                    <a:pt x="11731882" y="2259711"/>
                  </a:lnTo>
                  <a:lnTo>
                    <a:pt x="0" y="2259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635" r="0" b="-2635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941262" y="964016"/>
            <a:ext cx="9140927" cy="1604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6011" spc="-173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B-01. 관리자 계정 및 로그인</a:t>
            </a:r>
          </a:p>
          <a:p>
            <a:pPr algn="l">
              <a:lnSpc>
                <a:spcPts val="613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51560" y="2511523"/>
            <a:ext cx="16184880" cy="107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3200" spc="-107">
                <a:solidFill>
                  <a:srgbClr val="222222">
                    <a:alpha val="69804"/>
                  </a:srgbClr>
                </a:solidFill>
                <a:latin typeface="Arimo"/>
                <a:ea typeface="Arimo"/>
                <a:cs typeface="Arimo"/>
                <a:sym typeface="Arimo"/>
              </a:rPr>
              <a:t>관리자 이이디/비밀번호로 로그인 확인 및 전체 관리자 계정 목록조회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7287" y="2061420"/>
            <a:ext cx="17053417" cy="7607551"/>
          </a:xfrm>
          <a:custGeom>
            <a:avLst/>
            <a:gdLst/>
            <a:ahLst/>
            <a:cxnLst/>
            <a:rect r="r" b="b" t="t" l="l"/>
            <a:pathLst>
              <a:path h="7607551" w="17053417">
                <a:moveTo>
                  <a:pt x="0" y="0"/>
                </a:moveTo>
                <a:lnTo>
                  <a:pt x="17053417" y="0"/>
                </a:lnTo>
                <a:lnTo>
                  <a:pt x="17053417" y="7607550"/>
                </a:lnTo>
                <a:lnTo>
                  <a:pt x="0" y="7607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" r="0" b="-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920610" y="2045218"/>
            <a:ext cx="281750" cy="894493"/>
            <a:chOff x="0" y="0"/>
            <a:chExt cx="375666" cy="11926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5666" cy="1192657"/>
            </a:xfrm>
            <a:custGeom>
              <a:avLst/>
              <a:gdLst/>
              <a:ahLst/>
              <a:cxnLst/>
              <a:rect r="r" b="b" t="t" l="l"/>
              <a:pathLst>
                <a:path h="1192657" w="375666">
                  <a:moveTo>
                    <a:pt x="0" y="0"/>
                  </a:moveTo>
                  <a:lnTo>
                    <a:pt x="375666" y="0"/>
                  </a:lnTo>
                  <a:lnTo>
                    <a:pt x="375666" y="1192657"/>
                  </a:lnTo>
                  <a:lnTo>
                    <a:pt x="0" y="119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7" t="0" r="-267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81075" y="1047750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4"/>
                </a:lnTo>
                <a:lnTo>
                  <a:pt x="0" y="3839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374618" y="3582133"/>
            <a:ext cx="12715804" cy="2849261"/>
            <a:chOff x="0" y="0"/>
            <a:chExt cx="10241280" cy="22947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41280" cy="2294763"/>
            </a:xfrm>
            <a:custGeom>
              <a:avLst/>
              <a:gdLst/>
              <a:ahLst/>
              <a:cxnLst/>
              <a:rect r="r" b="b" t="t" l="l"/>
              <a:pathLst>
                <a:path h="2294763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294763"/>
                  </a:lnTo>
                  <a:lnTo>
                    <a:pt x="0" y="22947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945045" y="7441044"/>
            <a:ext cx="13574950" cy="383361"/>
            <a:chOff x="0" y="0"/>
            <a:chExt cx="14002863" cy="3954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002863" cy="395445"/>
            </a:xfrm>
            <a:custGeom>
              <a:avLst/>
              <a:gdLst/>
              <a:ahLst/>
              <a:cxnLst/>
              <a:rect r="r" b="b" t="t" l="l"/>
              <a:pathLst>
                <a:path h="395445" w="14002863">
                  <a:moveTo>
                    <a:pt x="0" y="0"/>
                  </a:moveTo>
                  <a:lnTo>
                    <a:pt x="14002863" y="0"/>
                  </a:lnTo>
                  <a:lnTo>
                    <a:pt x="14002863" y="395445"/>
                  </a:lnTo>
                  <a:lnTo>
                    <a:pt x="0" y="395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7283" r="0" b="-7283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45168" y="964016"/>
            <a:ext cx="7087352" cy="1604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6011" spc="-173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B-03. 교사 계정 관리</a:t>
            </a:r>
          </a:p>
          <a:p>
            <a:pPr algn="l">
              <a:lnSpc>
                <a:spcPts val="613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51560" y="2511523"/>
            <a:ext cx="16184880" cy="107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3200" spc="-107">
                <a:solidFill>
                  <a:srgbClr val="222222">
                    <a:alpha val="69804"/>
                  </a:srgbClr>
                </a:solidFill>
                <a:latin typeface="Arimo"/>
                <a:ea typeface="Arimo"/>
                <a:cs typeface="Arimo"/>
                <a:sym typeface="Arimo"/>
              </a:rPr>
              <a:t>교사 등록 시 강의 가능 과목까지 함께 등록하고, LISTAGG로 담당 과목을 한 줄로 표시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7287" y="2061420"/>
            <a:ext cx="17053417" cy="7607551"/>
          </a:xfrm>
          <a:custGeom>
            <a:avLst/>
            <a:gdLst/>
            <a:ahLst/>
            <a:cxnLst/>
            <a:rect r="r" b="b" t="t" l="l"/>
            <a:pathLst>
              <a:path h="7607551" w="17053417">
                <a:moveTo>
                  <a:pt x="0" y="0"/>
                </a:moveTo>
                <a:lnTo>
                  <a:pt x="17053417" y="0"/>
                </a:lnTo>
                <a:lnTo>
                  <a:pt x="17053417" y="7607550"/>
                </a:lnTo>
                <a:lnTo>
                  <a:pt x="0" y="7607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" r="0" b="-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920610" y="2045218"/>
            <a:ext cx="281750" cy="894493"/>
            <a:chOff x="0" y="0"/>
            <a:chExt cx="375666" cy="11926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5666" cy="1192657"/>
            </a:xfrm>
            <a:custGeom>
              <a:avLst/>
              <a:gdLst/>
              <a:ahLst/>
              <a:cxnLst/>
              <a:rect r="r" b="b" t="t" l="l"/>
              <a:pathLst>
                <a:path h="1192657" w="375666">
                  <a:moveTo>
                    <a:pt x="0" y="0"/>
                  </a:moveTo>
                  <a:lnTo>
                    <a:pt x="375666" y="0"/>
                  </a:lnTo>
                  <a:lnTo>
                    <a:pt x="375666" y="1192657"/>
                  </a:lnTo>
                  <a:lnTo>
                    <a:pt x="0" y="119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7" t="0" r="-267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81075" y="1047750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4"/>
                </a:lnTo>
                <a:lnTo>
                  <a:pt x="0" y="3839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269475" y="3424248"/>
            <a:ext cx="10118670" cy="4370151"/>
            <a:chOff x="0" y="0"/>
            <a:chExt cx="10241280" cy="44231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41280" cy="4423156"/>
            </a:xfrm>
            <a:custGeom>
              <a:avLst/>
              <a:gdLst/>
              <a:ahLst/>
              <a:cxnLst/>
              <a:rect r="r" b="b" t="t" l="l"/>
              <a:pathLst>
                <a:path h="442315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4423156"/>
                  </a:lnTo>
                  <a:lnTo>
                    <a:pt x="0" y="44231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458295" y="8118481"/>
            <a:ext cx="9741030" cy="1355084"/>
            <a:chOff x="0" y="0"/>
            <a:chExt cx="10924791" cy="15197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24792" cy="1519809"/>
            </a:xfrm>
            <a:custGeom>
              <a:avLst/>
              <a:gdLst/>
              <a:ahLst/>
              <a:cxnLst/>
              <a:rect r="r" b="b" t="t" l="l"/>
              <a:pathLst>
                <a:path h="1519809" w="10924792">
                  <a:moveTo>
                    <a:pt x="0" y="0"/>
                  </a:moveTo>
                  <a:lnTo>
                    <a:pt x="10924792" y="0"/>
                  </a:lnTo>
                  <a:lnTo>
                    <a:pt x="10924792" y="1519809"/>
                  </a:lnTo>
                  <a:lnTo>
                    <a:pt x="0" y="15198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060" t="-3" r="-106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45974" y="964016"/>
            <a:ext cx="6946960" cy="1604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6011" spc="-173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B-05. 개설 과목 관리</a:t>
            </a:r>
          </a:p>
          <a:p>
            <a:pPr algn="l">
              <a:lnSpc>
                <a:spcPts val="613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51560" y="2461050"/>
            <a:ext cx="16184880" cy="1194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8"/>
              </a:lnSpc>
            </a:pPr>
            <a:r>
              <a:rPr lang="en-US" sz="3200" spc="-147">
                <a:solidFill>
                  <a:srgbClr val="222222">
                    <a:alpha val="69804"/>
                  </a:srgbClr>
                </a:solidFill>
                <a:latin typeface="Arimo"/>
                <a:ea typeface="Arimo"/>
                <a:cs typeface="Arimo"/>
                <a:sym typeface="Arimo"/>
              </a:rPr>
              <a:t>개설과정에 종속된 과목을 담당교사 · 교재와 함께 등록 및 조회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7287" y="2061420"/>
            <a:ext cx="17053417" cy="7607551"/>
          </a:xfrm>
          <a:custGeom>
            <a:avLst/>
            <a:gdLst/>
            <a:ahLst/>
            <a:cxnLst/>
            <a:rect r="r" b="b" t="t" l="l"/>
            <a:pathLst>
              <a:path h="7607551" w="17053417">
                <a:moveTo>
                  <a:pt x="0" y="0"/>
                </a:moveTo>
                <a:lnTo>
                  <a:pt x="17053417" y="0"/>
                </a:lnTo>
                <a:lnTo>
                  <a:pt x="17053417" y="7607550"/>
                </a:lnTo>
                <a:lnTo>
                  <a:pt x="0" y="7607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" r="0" b="-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920610" y="2045218"/>
            <a:ext cx="281750" cy="894493"/>
            <a:chOff x="0" y="0"/>
            <a:chExt cx="375666" cy="11926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5666" cy="1192657"/>
            </a:xfrm>
            <a:custGeom>
              <a:avLst/>
              <a:gdLst/>
              <a:ahLst/>
              <a:cxnLst/>
              <a:rect r="r" b="b" t="t" l="l"/>
              <a:pathLst>
                <a:path h="1192657" w="375666">
                  <a:moveTo>
                    <a:pt x="0" y="0"/>
                  </a:moveTo>
                  <a:lnTo>
                    <a:pt x="375666" y="0"/>
                  </a:lnTo>
                  <a:lnTo>
                    <a:pt x="375666" y="1192657"/>
                  </a:lnTo>
                  <a:lnTo>
                    <a:pt x="0" y="119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7" t="0" r="-267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81075" y="1047750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4"/>
                </a:lnTo>
                <a:lnTo>
                  <a:pt x="0" y="3839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51560" y="3798246"/>
            <a:ext cx="7680960" cy="2173996"/>
            <a:chOff x="0" y="0"/>
            <a:chExt cx="10241280" cy="28986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41280" cy="2898648"/>
            </a:xfrm>
            <a:custGeom>
              <a:avLst/>
              <a:gdLst/>
              <a:ahLst/>
              <a:cxnLst/>
              <a:rect r="r" b="b" t="t" l="l"/>
              <a:pathLst>
                <a:path h="289864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898648"/>
                  </a:lnTo>
                  <a:lnTo>
                    <a:pt x="0" y="2898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0" y="3798246"/>
            <a:ext cx="8366760" cy="3695633"/>
            <a:chOff x="0" y="0"/>
            <a:chExt cx="11155680" cy="49275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155680" cy="4927473"/>
            </a:xfrm>
            <a:custGeom>
              <a:avLst/>
              <a:gdLst/>
              <a:ahLst/>
              <a:cxnLst/>
              <a:rect r="r" b="b" t="t" l="l"/>
              <a:pathLst>
                <a:path h="4927473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4927473"/>
                  </a:lnTo>
                  <a:lnTo>
                    <a:pt x="0" y="49274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31810" y="964016"/>
            <a:ext cx="9208780" cy="1604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6011" spc="-173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B-07. 시험관리 및 성적 조회</a:t>
            </a:r>
          </a:p>
          <a:p>
            <a:pPr algn="l">
              <a:lnSpc>
                <a:spcPts val="613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51560" y="2447601"/>
            <a:ext cx="16184880" cy="1213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8"/>
              </a:lnSpc>
            </a:pPr>
            <a:r>
              <a:rPr lang="en-US" sz="3200" spc="-148">
                <a:solidFill>
                  <a:srgbClr val="222222">
                    <a:alpha val="69804"/>
                  </a:srgbClr>
                </a:solidFill>
                <a:latin typeface="Arimo"/>
                <a:ea typeface="Arimo"/>
                <a:cs typeface="Arimo"/>
                <a:sym typeface="Arimo"/>
              </a:rPr>
              <a:t>과목별 배점 등록 여부와 교육생별 성적(출결·필기·실기)을 조회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7287" y="2061420"/>
            <a:ext cx="17053417" cy="7607551"/>
          </a:xfrm>
          <a:custGeom>
            <a:avLst/>
            <a:gdLst/>
            <a:ahLst/>
            <a:cxnLst/>
            <a:rect r="r" b="b" t="t" l="l"/>
            <a:pathLst>
              <a:path h="7607551" w="17053417">
                <a:moveTo>
                  <a:pt x="0" y="0"/>
                </a:moveTo>
                <a:lnTo>
                  <a:pt x="17053417" y="0"/>
                </a:lnTo>
                <a:lnTo>
                  <a:pt x="17053417" y="7607550"/>
                </a:lnTo>
                <a:lnTo>
                  <a:pt x="0" y="7607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" r="0" b="-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920610" y="2045218"/>
            <a:ext cx="281750" cy="894493"/>
            <a:chOff x="0" y="0"/>
            <a:chExt cx="375666" cy="11926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5666" cy="1192657"/>
            </a:xfrm>
            <a:custGeom>
              <a:avLst/>
              <a:gdLst/>
              <a:ahLst/>
              <a:cxnLst/>
              <a:rect r="r" b="b" t="t" l="l"/>
              <a:pathLst>
                <a:path h="1192657" w="375666">
                  <a:moveTo>
                    <a:pt x="0" y="0"/>
                  </a:moveTo>
                  <a:lnTo>
                    <a:pt x="375666" y="0"/>
                  </a:lnTo>
                  <a:lnTo>
                    <a:pt x="375666" y="1192657"/>
                  </a:lnTo>
                  <a:lnTo>
                    <a:pt x="0" y="119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7" t="0" r="-267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81075" y="1047750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4"/>
                </a:lnTo>
                <a:lnTo>
                  <a:pt x="0" y="3839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020987" y="3489773"/>
            <a:ext cx="10246025" cy="2495194"/>
            <a:chOff x="0" y="0"/>
            <a:chExt cx="10241280" cy="249403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41280" cy="2494026"/>
            </a:xfrm>
            <a:custGeom>
              <a:avLst/>
              <a:gdLst/>
              <a:ahLst/>
              <a:cxnLst/>
              <a:rect r="r" b="b" t="t" l="l"/>
              <a:pathLst>
                <a:path h="249402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494026"/>
                  </a:lnTo>
                  <a:lnTo>
                    <a:pt x="0" y="24940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404818" y="6586864"/>
            <a:ext cx="9478363" cy="2671436"/>
            <a:chOff x="0" y="0"/>
            <a:chExt cx="11533498" cy="32506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533498" cy="3250692"/>
            </a:xfrm>
            <a:custGeom>
              <a:avLst/>
              <a:gdLst/>
              <a:ahLst/>
              <a:cxnLst/>
              <a:rect r="r" b="b" t="t" l="l"/>
              <a:pathLst>
                <a:path h="3250692" w="11533498">
                  <a:moveTo>
                    <a:pt x="0" y="0"/>
                  </a:moveTo>
                  <a:lnTo>
                    <a:pt x="11533498" y="0"/>
                  </a:lnTo>
                  <a:lnTo>
                    <a:pt x="11533498" y="3250692"/>
                  </a:lnTo>
                  <a:lnTo>
                    <a:pt x="0" y="3250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693" r="0" b="-1692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60147" y="964016"/>
            <a:ext cx="9128925" cy="1604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6011" spc="-173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B-08. 출결관리 및 출결조회</a:t>
            </a:r>
          </a:p>
          <a:p>
            <a:pPr algn="l">
              <a:lnSpc>
                <a:spcPts val="613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51560" y="2321023"/>
            <a:ext cx="16184880" cy="1299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4"/>
              </a:lnSpc>
            </a:pPr>
            <a:r>
              <a:rPr lang="en-US" sz="3200" spc="-174">
                <a:solidFill>
                  <a:srgbClr val="222222">
                    <a:alpha val="69804"/>
                  </a:srgbClr>
                </a:solidFill>
                <a:latin typeface="Arimo"/>
                <a:ea typeface="Arimo"/>
                <a:cs typeface="Arimo"/>
                <a:sym typeface="Arimo"/>
              </a:rPr>
              <a:t>교육생별 출결 현황을 일자·상태별로 등록하고 조회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7287" y="2045218"/>
            <a:ext cx="17053417" cy="7607551"/>
          </a:xfrm>
          <a:custGeom>
            <a:avLst/>
            <a:gdLst/>
            <a:ahLst/>
            <a:cxnLst/>
            <a:rect r="r" b="b" t="t" l="l"/>
            <a:pathLst>
              <a:path h="7607551" w="17053417">
                <a:moveTo>
                  <a:pt x="0" y="0"/>
                </a:moveTo>
                <a:lnTo>
                  <a:pt x="17053417" y="0"/>
                </a:lnTo>
                <a:lnTo>
                  <a:pt x="17053417" y="7607550"/>
                </a:lnTo>
                <a:lnTo>
                  <a:pt x="0" y="7607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" r="0" b="-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332014" y="2045218"/>
            <a:ext cx="281750" cy="894493"/>
            <a:chOff x="0" y="0"/>
            <a:chExt cx="375666" cy="11926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5666" cy="1192657"/>
            </a:xfrm>
            <a:custGeom>
              <a:avLst/>
              <a:gdLst/>
              <a:ahLst/>
              <a:cxnLst/>
              <a:rect r="r" b="b" t="t" l="l"/>
              <a:pathLst>
                <a:path h="1192657" w="375666">
                  <a:moveTo>
                    <a:pt x="0" y="0"/>
                  </a:moveTo>
                  <a:lnTo>
                    <a:pt x="375666" y="0"/>
                  </a:lnTo>
                  <a:lnTo>
                    <a:pt x="375666" y="1192657"/>
                  </a:lnTo>
                  <a:lnTo>
                    <a:pt x="0" y="119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7" t="0" r="-267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392479" y="1047750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4"/>
                </a:lnTo>
                <a:lnTo>
                  <a:pt x="0" y="3839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51560" y="4590731"/>
            <a:ext cx="7362602" cy="2368221"/>
            <a:chOff x="0" y="0"/>
            <a:chExt cx="10241280" cy="32941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41280" cy="3294126"/>
            </a:xfrm>
            <a:custGeom>
              <a:avLst/>
              <a:gdLst/>
              <a:ahLst/>
              <a:cxnLst/>
              <a:rect r="r" b="b" t="t" l="l"/>
              <a:pathLst>
                <a:path h="329412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294126"/>
                  </a:lnTo>
                  <a:lnTo>
                    <a:pt x="0" y="3294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955091" y="4631846"/>
            <a:ext cx="6852985" cy="2285992"/>
            <a:chOff x="0" y="0"/>
            <a:chExt cx="11384750" cy="37976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384750" cy="3797681"/>
            </a:xfrm>
            <a:custGeom>
              <a:avLst/>
              <a:gdLst/>
              <a:ahLst/>
              <a:cxnLst/>
              <a:rect r="r" b="b" t="t" l="l"/>
              <a:pathLst>
                <a:path h="3797681" w="11384750">
                  <a:moveTo>
                    <a:pt x="0" y="0"/>
                  </a:moveTo>
                  <a:lnTo>
                    <a:pt x="11384750" y="0"/>
                  </a:lnTo>
                  <a:lnTo>
                    <a:pt x="11384750" y="3797681"/>
                  </a:lnTo>
                  <a:lnTo>
                    <a:pt x="0" y="37976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026" r="0" b="-1026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042398" y="875014"/>
            <a:ext cx="9245613" cy="1604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6011" spc="-173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C-01. 교사 계정 로그인 확인</a:t>
            </a:r>
          </a:p>
          <a:p>
            <a:pPr algn="l">
              <a:lnSpc>
                <a:spcPts val="613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51560" y="2764707"/>
            <a:ext cx="16184880" cy="1022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2"/>
              </a:lnSpc>
            </a:pPr>
            <a:r>
              <a:rPr lang="en-US" sz="3200" spc="-93">
                <a:solidFill>
                  <a:srgbClr val="222222">
                    <a:alpha val="69804"/>
                  </a:srgbClr>
                </a:solidFill>
                <a:latin typeface="Arimo"/>
                <a:ea typeface="Arimo"/>
                <a:cs typeface="Arimo"/>
                <a:sym typeface="Arimo"/>
              </a:rPr>
              <a:t>입력한 아이디/비밀번호가 tblTeacher에 존재하는지 확인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7287" y="2061420"/>
            <a:ext cx="17053417" cy="7607551"/>
          </a:xfrm>
          <a:custGeom>
            <a:avLst/>
            <a:gdLst/>
            <a:ahLst/>
            <a:cxnLst/>
            <a:rect r="r" b="b" t="t" l="l"/>
            <a:pathLst>
              <a:path h="7607551" w="17053417">
                <a:moveTo>
                  <a:pt x="0" y="0"/>
                </a:moveTo>
                <a:lnTo>
                  <a:pt x="17053417" y="0"/>
                </a:lnTo>
                <a:lnTo>
                  <a:pt x="17053417" y="7607550"/>
                </a:lnTo>
                <a:lnTo>
                  <a:pt x="0" y="7607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" r="0" b="-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920610" y="2045218"/>
            <a:ext cx="281750" cy="894493"/>
            <a:chOff x="0" y="0"/>
            <a:chExt cx="375666" cy="11926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5666" cy="1192657"/>
            </a:xfrm>
            <a:custGeom>
              <a:avLst/>
              <a:gdLst/>
              <a:ahLst/>
              <a:cxnLst/>
              <a:rect r="r" b="b" t="t" l="l"/>
              <a:pathLst>
                <a:path h="1192657" w="375666">
                  <a:moveTo>
                    <a:pt x="0" y="0"/>
                  </a:moveTo>
                  <a:lnTo>
                    <a:pt x="375666" y="0"/>
                  </a:lnTo>
                  <a:lnTo>
                    <a:pt x="375666" y="1192657"/>
                  </a:lnTo>
                  <a:lnTo>
                    <a:pt x="0" y="119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7" t="0" r="-267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81075" y="1047750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4"/>
                </a:lnTo>
                <a:lnTo>
                  <a:pt x="0" y="3839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51560" y="3719293"/>
            <a:ext cx="7680960" cy="2893695"/>
            <a:chOff x="0" y="0"/>
            <a:chExt cx="10241280" cy="38582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41280" cy="3858260"/>
            </a:xfrm>
            <a:custGeom>
              <a:avLst/>
              <a:gdLst/>
              <a:ahLst/>
              <a:cxnLst/>
              <a:rect r="r" b="b" t="t" l="l"/>
              <a:pathLst>
                <a:path h="38582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858260"/>
                  </a:lnTo>
                  <a:lnTo>
                    <a:pt x="0" y="38582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0" y="3719293"/>
            <a:ext cx="8366760" cy="3194580"/>
            <a:chOff x="0" y="0"/>
            <a:chExt cx="11155680" cy="4259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155680" cy="4259453"/>
            </a:xfrm>
            <a:custGeom>
              <a:avLst/>
              <a:gdLst/>
              <a:ahLst/>
              <a:cxnLst/>
              <a:rect r="r" b="b" t="t" l="l"/>
              <a:pathLst>
                <a:path h="4259453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4259453"/>
                  </a:lnTo>
                  <a:lnTo>
                    <a:pt x="0" y="42594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30994" y="964016"/>
            <a:ext cx="7101526" cy="1604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6011" spc="-173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C-02. 강의스케줄 조회</a:t>
            </a:r>
          </a:p>
          <a:p>
            <a:pPr algn="l">
              <a:lnSpc>
                <a:spcPts val="613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51560" y="2559148"/>
            <a:ext cx="16184880" cy="1022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2"/>
              </a:lnSpc>
            </a:pPr>
            <a:r>
              <a:rPr lang="en-US" sz="3200" spc="-93">
                <a:solidFill>
                  <a:srgbClr val="222222">
                    <a:alpha val="69804"/>
                  </a:srgbClr>
                </a:solidFill>
                <a:latin typeface="Arimo"/>
                <a:ea typeface="Arimo"/>
                <a:cs typeface="Arimo"/>
                <a:sym typeface="Arimo"/>
              </a:rPr>
              <a:t>담당 교사의 과목별 강의 스케줄과 진행상태(예정/중/종료)를 날짜 기준으로 조회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7287" y="2061420"/>
            <a:ext cx="17053417" cy="7607551"/>
          </a:xfrm>
          <a:custGeom>
            <a:avLst/>
            <a:gdLst/>
            <a:ahLst/>
            <a:cxnLst/>
            <a:rect r="r" b="b" t="t" l="l"/>
            <a:pathLst>
              <a:path h="7607551" w="17053417">
                <a:moveTo>
                  <a:pt x="0" y="0"/>
                </a:moveTo>
                <a:lnTo>
                  <a:pt x="17053417" y="0"/>
                </a:lnTo>
                <a:lnTo>
                  <a:pt x="17053417" y="7607550"/>
                </a:lnTo>
                <a:lnTo>
                  <a:pt x="0" y="7607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" r="0" b="-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920610" y="2045218"/>
            <a:ext cx="281750" cy="894493"/>
            <a:chOff x="0" y="0"/>
            <a:chExt cx="375666" cy="11926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5666" cy="1192657"/>
            </a:xfrm>
            <a:custGeom>
              <a:avLst/>
              <a:gdLst/>
              <a:ahLst/>
              <a:cxnLst/>
              <a:rect r="r" b="b" t="t" l="l"/>
              <a:pathLst>
                <a:path h="1192657" w="375666">
                  <a:moveTo>
                    <a:pt x="0" y="0"/>
                  </a:moveTo>
                  <a:lnTo>
                    <a:pt x="375666" y="0"/>
                  </a:lnTo>
                  <a:lnTo>
                    <a:pt x="375666" y="1192657"/>
                  </a:lnTo>
                  <a:lnTo>
                    <a:pt x="0" y="119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7" t="0" r="-267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81075" y="1047750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4"/>
                </a:lnTo>
                <a:lnTo>
                  <a:pt x="0" y="3839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226228" y="3582133"/>
            <a:ext cx="9835534" cy="2971517"/>
            <a:chOff x="0" y="0"/>
            <a:chExt cx="10241280" cy="30941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41280" cy="3094101"/>
            </a:xfrm>
            <a:custGeom>
              <a:avLst/>
              <a:gdLst/>
              <a:ahLst/>
              <a:cxnLst/>
              <a:rect r="r" b="b" t="t" l="l"/>
              <a:pathLst>
                <a:path h="3094101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094101"/>
                  </a:lnTo>
                  <a:lnTo>
                    <a:pt x="0" y="3094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226233" y="7056683"/>
            <a:ext cx="9835534" cy="1484971"/>
            <a:chOff x="0" y="0"/>
            <a:chExt cx="11155680" cy="16842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155680" cy="1684274"/>
            </a:xfrm>
            <a:custGeom>
              <a:avLst/>
              <a:gdLst/>
              <a:ahLst/>
              <a:cxnLst/>
              <a:rect r="r" b="b" t="t" l="l"/>
              <a:pathLst>
                <a:path h="1684274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1684274"/>
                  </a:lnTo>
                  <a:lnTo>
                    <a:pt x="0" y="16842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60147" y="937631"/>
            <a:ext cx="6585795" cy="756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30"/>
              </a:lnSpc>
            </a:pPr>
            <a:r>
              <a:rPr lang="en-US" sz="6011" spc="-180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C-06. 강의 이력 조회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1560" y="2559148"/>
            <a:ext cx="16184880" cy="1022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5"/>
              </a:lnSpc>
            </a:pPr>
            <a:r>
              <a:rPr lang="en-US" sz="3200" spc="-96">
                <a:solidFill>
                  <a:srgbClr val="222222">
                    <a:alpha val="69804"/>
                  </a:srgbClr>
                </a:solidFill>
                <a:latin typeface="Arimo"/>
                <a:ea typeface="Arimo"/>
                <a:cs typeface="Arimo"/>
                <a:sym typeface="Arimo"/>
              </a:rPr>
              <a:t>정상 종료(완료)된 강의에 한해서만 본인의 과거 강의 이력을 조회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7287" y="2061420"/>
            <a:ext cx="17053417" cy="7607551"/>
          </a:xfrm>
          <a:custGeom>
            <a:avLst/>
            <a:gdLst/>
            <a:ahLst/>
            <a:cxnLst/>
            <a:rect r="r" b="b" t="t" l="l"/>
            <a:pathLst>
              <a:path h="7607551" w="17053417">
                <a:moveTo>
                  <a:pt x="0" y="0"/>
                </a:moveTo>
                <a:lnTo>
                  <a:pt x="17053417" y="0"/>
                </a:lnTo>
                <a:lnTo>
                  <a:pt x="17053417" y="7607550"/>
                </a:lnTo>
                <a:lnTo>
                  <a:pt x="0" y="7607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" r="0" b="-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920610" y="2045218"/>
            <a:ext cx="281750" cy="894493"/>
            <a:chOff x="0" y="0"/>
            <a:chExt cx="375666" cy="11926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5666" cy="1192657"/>
            </a:xfrm>
            <a:custGeom>
              <a:avLst/>
              <a:gdLst/>
              <a:ahLst/>
              <a:cxnLst/>
              <a:rect r="r" b="b" t="t" l="l"/>
              <a:pathLst>
                <a:path h="1192657" w="375666">
                  <a:moveTo>
                    <a:pt x="0" y="0"/>
                  </a:moveTo>
                  <a:lnTo>
                    <a:pt x="375666" y="0"/>
                  </a:lnTo>
                  <a:lnTo>
                    <a:pt x="375666" y="1192657"/>
                  </a:lnTo>
                  <a:lnTo>
                    <a:pt x="0" y="119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7" t="0" r="-267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81075" y="1047750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4"/>
                </a:lnTo>
                <a:lnTo>
                  <a:pt x="0" y="3839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374055" y="3537446"/>
            <a:ext cx="9961331" cy="3606387"/>
            <a:chOff x="0" y="0"/>
            <a:chExt cx="10241280" cy="37077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41280" cy="3707765"/>
            </a:xfrm>
            <a:custGeom>
              <a:avLst/>
              <a:gdLst/>
              <a:ahLst/>
              <a:cxnLst/>
              <a:rect r="r" b="b" t="t" l="l"/>
              <a:pathLst>
                <a:path h="3707765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707765"/>
                  </a:lnTo>
                  <a:lnTo>
                    <a:pt x="0" y="37077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374055" y="7545805"/>
            <a:ext cx="9961331" cy="996133"/>
            <a:chOff x="0" y="0"/>
            <a:chExt cx="11155680" cy="11155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155680" cy="1115568"/>
            </a:xfrm>
            <a:custGeom>
              <a:avLst/>
              <a:gdLst/>
              <a:ahLst/>
              <a:cxnLst/>
              <a:rect r="r" b="b" t="t" l="l"/>
              <a:pathLst>
                <a:path h="1115568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1115568"/>
                  </a:lnTo>
                  <a:lnTo>
                    <a:pt x="0" y="1115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74311" y="964016"/>
            <a:ext cx="7780409" cy="1604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6011" spc="-173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D-04. 수강 완료 후 기능</a:t>
            </a:r>
          </a:p>
          <a:p>
            <a:pPr algn="l">
              <a:lnSpc>
                <a:spcPts val="613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51560" y="2764907"/>
            <a:ext cx="16184880" cy="1022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5"/>
              </a:lnSpc>
            </a:pPr>
            <a:r>
              <a:rPr lang="en-US" sz="3200" spc="-96">
                <a:solidFill>
                  <a:srgbClr val="222222">
                    <a:alpha val="69804"/>
                  </a:srgbClr>
                </a:solidFill>
                <a:latin typeface="Arimo"/>
                <a:ea typeface="Arimo"/>
                <a:cs typeface="Arimo"/>
                <a:sym typeface="Arimo"/>
              </a:rPr>
              <a:t>수료한 교육생이 담당 교사에게 평가를 남기고, 본인의 사후 취업 정보를 등록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7287" y="2061420"/>
            <a:ext cx="17053417" cy="7607551"/>
          </a:xfrm>
          <a:custGeom>
            <a:avLst/>
            <a:gdLst/>
            <a:ahLst/>
            <a:cxnLst/>
            <a:rect r="r" b="b" t="t" l="l"/>
            <a:pathLst>
              <a:path h="7607551" w="17053417">
                <a:moveTo>
                  <a:pt x="0" y="0"/>
                </a:moveTo>
                <a:lnTo>
                  <a:pt x="17053417" y="0"/>
                </a:lnTo>
                <a:lnTo>
                  <a:pt x="17053417" y="7607550"/>
                </a:lnTo>
                <a:lnTo>
                  <a:pt x="0" y="7607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" r="0" b="-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920610" y="2045218"/>
            <a:ext cx="281750" cy="894493"/>
            <a:chOff x="0" y="0"/>
            <a:chExt cx="375666" cy="11926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5666" cy="1192657"/>
            </a:xfrm>
            <a:custGeom>
              <a:avLst/>
              <a:gdLst/>
              <a:ahLst/>
              <a:cxnLst/>
              <a:rect r="r" b="b" t="t" l="l"/>
              <a:pathLst>
                <a:path h="1192657" w="375666">
                  <a:moveTo>
                    <a:pt x="0" y="0"/>
                  </a:moveTo>
                  <a:lnTo>
                    <a:pt x="375666" y="0"/>
                  </a:lnTo>
                  <a:lnTo>
                    <a:pt x="375666" y="1192657"/>
                  </a:lnTo>
                  <a:lnTo>
                    <a:pt x="0" y="119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7" t="0" r="-267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81075" y="1047750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4"/>
                </a:lnTo>
                <a:lnTo>
                  <a:pt x="0" y="3839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008774" y="3787892"/>
            <a:ext cx="10270451" cy="2709277"/>
            <a:chOff x="0" y="0"/>
            <a:chExt cx="10241280" cy="27015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41280" cy="2701544"/>
            </a:xfrm>
            <a:custGeom>
              <a:avLst/>
              <a:gdLst/>
              <a:ahLst/>
              <a:cxnLst/>
              <a:rect r="r" b="b" t="t" l="l"/>
              <a:pathLst>
                <a:path h="270154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701544"/>
                  </a:lnTo>
                  <a:lnTo>
                    <a:pt x="0" y="2701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008769" y="6837397"/>
            <a:ext cx="10270451" cy="1631557"/>
            <a:chOff x="0" y="0"/>
            <a:chExt cx="11155680" cy="17721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155680" cy="1772158"/>
            </a:xfrm>
            <a:custGeom>
              <a:avLst/>
              <a:gdLst/>
              <a:ahLst/>
              <a:cxnLst/>
              <a:rect r="r" b="b" t="t" l="l"/>
              <a:pathLst>
                <a:path h="1772158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1772158"/>
                  </a:lnTo>
                  <a:lnTo>
                    <a:pt x="0" y="1772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74311" y="964016"/>
            <a:ext cx="6720305" cy="1604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6011" spc="-173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D-05. 상담일지 조회</a:t>
            </a:r>
          </a:p>
          <a:p>
            <a:pPr algn="l">
              <a:lnSpc>
                <a:spcPts val="613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51560" y="2764907"/>
            <a:ext cx="16184880" cy="1022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5"/>
              </a:lnSpc>
            </a:pPr>
            <a:r>
              <a:rPr lang="en-US" sz="3200" spc="-96">
                <a:solidFill>
                  <a:srgbClr val="222222">
                    <a:alpha val="69804"/>
                  </a:srgbClr>
                </a:solidFill>
                <a:latin typeface="Arimo"/>
                <a:ea typeface="Arimo"/>
                <a:cs typeface="Arimo"/>
                <a:sym typeface="Arimo"/>
              </a:rPr>
              <a:t>본인을 대상으로 작성된 상담 내역을 최신 상담일자순으로 조회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7287" y="2061420"/>
            <a:ext cx="17053417" cy="7607551"/>
          </a:xfrm>
          <a:custGeom>
            <a:avLst/>
            <a:gdLst/>
            <a:ahLst/>
            <a:cxnLst/>
            <a:rect r="r" b="b" t="t" l="l"/>
            <a:pathLst>
              <a:path h="7607551" w="17053417">
                <a:moveTo>
                  <a:pt x="0" y="0"/>
                </a:moveTo>
                <a:lnTo>
                  <a:pt x="17053417" y="0"/>
                </a:lnTo>
                <a:lnTo>
                  <a:pt x="17053417" y="7607550"/>
                </a:lnTo>
                <a:lnTo>
                  <a:pt x="0" y="7607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" r="0" b="-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920610" y="2045218"/>
            <a:ext cx="281750" cy="894493"/>
            <a:chOff x="0" y="0"/>
            <a:chExt cx="375666" cy="11926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5666" cy="1192657"/>
            </a:xfrm>
            <a:custGeom>
              <a:avLst/>
              <a:gdLst/>
              <a:ahLst/>
              <a:cxnLst/>
              <a:rect r="r" b="b" t="t" l="l"/>
              <a:pathLst>
                <a:path h="1192657" w="375666">
                  <a:moveTo>
                    <a:pt x="0" y="0"/>
                  </a:moveTo>
                  <a:lnTo>
                    <a:pt x="375666" y="0"/>
                  </a:lnTo>
                  <a:lnTo>
                    <a:pt x="375666" y="1192657"/>
                  </a:lnTo>
                  <a:lnTo>
                    <a:pt x="0" y="119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7" t="0" r="-267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81075" y="1047750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4"/>
                </a:lnTo>
                <a:lnTo>
                  <a:pt x="0" y="3839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995008" y="3773786"/>
            <a:ext cx="12297984" cy="2739428"/>
            <a:chOff x="0" y="0"/>
            <a:chExt cx="10241280" cy="22812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41280" cy="2281301"/>
            </a:xfrm>
            <a:custGeom>
              <a:avLst/>
              <a:gdLst/>
              <a:ahLst/>
              <a:cxnLst/>
              <a:rect r="r" b="b" t="t" l="l"/>
              <a:pathLst>
                <a:path h="2281301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281301"/>
                  </a:lnTo>
                  <a:lnTo>
                    <a:pt x="0" y="22813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800699" y="6684664"/>
            <a:ext cx="8366760" cy="2784158"/>
            <a:chOff x="0" y="0"/>
            <a:chExt cx="11155680" cy="37122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155680" cy="3712210"/>
            </a:xfrm>
            <a:custGeom>
              <a:avLst/>
              <a:gdLst/>
              <a:ahLst/>
              <a:cxnLst/>
              <a:rect r="r" b="b" t="t" l="l"/>
              <a:pathLst>
                <a:path h="371221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3712210"/>
                  </a:lnTo>
                  <a:lnTo>
                    <a:pt x="0" y="37122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60147" y="964016"/>
            <a:ext cx="6481103" cy="1604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6011" spc="-173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D-06. 소모임 관리</a:t>
            </a:r>
          </a:p>
          <a:p>
            <a:pPr algn="l">
              <a:lnSpc>
                <a:spcPts val="613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51560" y="2764907"/>
            <a:ext cx="16184880" cy="1022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5"/>
              </a:lnSpc>
            </a:pPr>
            <a:r>
              <a:rPr lang="en-US" sz="3200" spc="-96">
                <a:solidFill>
                  <a:srgbClr val="222222">
                    <a:alpha val="69804"/>
                  </a:srgbClr>
                </a:solidFill>
                <a:latin typeface="Arimo"/>
                <a:ea typeface="Arimo"/>
                <a:cs typeface="Arimo"/>
                <a:sym typeface="Arimo"/>
              </a:rPr>
              <a:t>수강 중인 교육생 대상, 모집 중인 소모임 목록과 현재 참여 인원 현황을 조회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7287" y="2061420"/>
            <a:ext cx="17053417" cy="7607551"/>
          </a:xfrm>
          <a:custGeom>
            <a:avLst/>
            <a:gdLst/>
            <a:ahLst/>
            <a:cxnLst/>
            <a:rect r="r" b="b" t="t" l="l"/>
            <a:pathLst>
              <a:path h="7607551" w="17053417">
                <a:moveTo>
                  <a:pt x="0" y="0"/>
                </a:moveTo>
                <a:lnTo>
                  <a:pt x="17053417" y="0"/>
                </a:lnTo>
                <a:lnTo>
                  <a:pt x="17053417" y="7607550"/>
                </a:lnTo>
                <a:lnTo>
                  <a:pt x="0" y="7607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" r="0" b="-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920610" y="2045218"/>
            <a:ext cx="281750" cy="894493"/>
            <a:chOff x="0" y="0"/>
            <a:chExt cx="375666" cy="11926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5666" cy="1192657"/>
            </a:xfrm>
            <a:custGeom>
              <a:avLst/>
              <a:gdLst/>
              <a:ahLst/>
              <a:cxnLst/>
              <a:rect r="r" b="b" t="t" l="l"/>
              <a:pathLst>
                <a:path h="1192657" w="375666">
                  <a:moveTo>
                    <a:pt x="0" y="0"/>
                  </a:moveTo>
                  <a:lnTo>
                    <a:pt x="375666" y="0"/>
                  </a:lnTo>
                  <a:lnTo>
                    <a:pt x="375666" y="1192657"/>
                  </a:lnTo>
                  <a:lnTo>
                    <a:pt x="0" y="119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7" t="0" r="-267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81075" y="1047750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4"/>
                </a:lnTo>
                <a:lnTo>
                  <a:pt x="0" y="3839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836930" y="3827017"/>
            <a:ext cx="8614141" cy="2420292"/>
            <a:chOff x="0" y="0"/>
            <a:chExt cx="10241280" cy="28774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41280" cy="2877439"/>
            </a:xfrm>
            <a:custGeom>
              <a:avLst/>
              <a:gdLst/>
              <a:ahLst/>
              <a:cxnLst/>
              <a:rect r="r" b="b" t="t" l="l"/>
              <a:pathLst>
                <a:path h="2877439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877439"/>
                  </a:lnTo>
                  <a:lnTo>
                    <a:pt x="0" y="2877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377111" y="6479614"/>
            <a:ext cx="9301293" cy="1463217"/>
            <a:chOff x="0" y="0"/>
            <a:chExt cx="11155680" cy="17549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155680" cy="1754886"/>
            </a:xfrm>
            <a:custGeom>
              <a:avLst/>
              <a:gdLst/>
              <a:ahLst/>
              <a:cxnLst/>
              <a:rect r="r" b="b" t="t" l="l"/>
              <a:pathLst>
                <a:path h="1754886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1754886"/>
                  </a:lnTo>
                  <a:lnTo>
                    <a:pt x="0" y="17548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553590" y="8355526"/>
            <a:ext cx="9180820" cy="689251"/>
            <a:chOff x="0" y="0"/>
            <a:chExt cx="11155680" cy="83751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155680" cy="837565"/>
            </a:xfrm>
            <a:custGeom>
              <a:avLst/>
              <a:gdLst/>
              <a:ahLst/>
              <a:cxnLst/>
              <a:rect r="r" b="b" t="t" l="l"/>
              <a:pathLst>
                <a:path h="837565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837565"/>
                  </a:lnTo>
                  <a:lnTo>
                    <a:pt x="0" y="8375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6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659331" y="937631"/>
            <a:ext cx="3771005" cy="756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30"/>
              </a:lnSpc>
            </a:pPr>
            <a:r>
              <a:rPr lang="en-US" sz="6011" spc="-180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Q&amp;A 게시판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1560" y="2930204"/>
            <a:ext cx="16184880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7"/>
              </a:lnSpc>
            </a:pPr>
            <a:r>
              <a:rPr lang="en-US" sz="3200" spc="-122">
                <a:solidFill>
                  <a:srgbClr val="737373">
                    <a:alpha val="69804"/>
                  </a:srgbClr>
                </a:solidFill>
                <a:latin typeface="Arimo"/>
                <a:ea typeface="Arimo"/>
                <a:cs typeface="Arimo"/>
                <a:sym typeface="Arimo"/>
              </a:rPr>
              <a:t>교육생 질문과 담당 교사 답변이 연결되어 조회되는지 검증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7287" y="2061420"/>
            <a:ext cx="17053417" cy="7607551"/>
          </a:xfrm>
          <a:custGeom>
            <a:avLst/>
            <a:gdLst/>
            <a:ahLst/>
            <a:cxnLst/>
            <a:rect r="r" b="b" t="t" l="l"/>
            <a:pathLst>
              <a:path h="7607551" w="17053417">
                <a:moveTo>
                  <a:pt x="0" y="0"/>
                </a:moveTo>
                <a:lnTo>
                  <a:pt x="17053417" y="0"/>
                </a:lnTo>
                <a:lnTo>
                  <a:pt x="17053417" y="7607550"/>
                </a:lnTo>
                <a:lnTo>
                  <a:pt x="0" y="7607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" r="0" b="-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920610" y="2045218"/>
            <a:ext cx="281750" cy="894493"/>
            <a:chOff x="0" y="0"/>
            <a:chExt cx="375666" cy="11926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5666" cy="1192657"/>
            </a:xfrm>
            <a:custGeom>
              <a:avLst/>
              <a:gdLst/>
              <a:ahLst/>
              <a:cxnLst/>
              <a:rect r="r" b="b" t="t" l="l"/>
              <a:pathLst>
                <a:path h="1192657" w="375666">
                  <a:moveTo>
                    <a:pt x="0" y="0"/>
                  </a:moveTo>
                  <a:lnTo>
                    <a:pt x="375666" y="0"/>
                  </a:lnTo>
                  <a:lnTo>
                    <a:pt x="375666" y="1192657"/>
                  </a:lnTo>
                  <a:lnTo>
                    <a:pt x="0" y="119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7" t="0" r="-267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81075" y="1047750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4"/>
                </a:lnTo>
                <a:lnTo>
                  <a:pt x="0" y="3839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572573" y="3809651"/>
            <a:ext cx="9142845" cy="2449744"/>
            <a:chOff x="0" y="0"/>
            <a:chExt cx="10227074" cy="274025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27074" cy="2740279"/>
            </a:xfrm>
            <a:custGeom>
              <a:avLst/>
              <a:gdLst/>
              <a:ahLst/>
              <a:cxnLst/>
              <a:rect r="r" b="b" t="t" l="l"/>
              <a:pathLst>
                <a:path h="2740279" w="10227074">
                  <a:moveTo>
                    <a:pt x="0" y="0"/>
                  </a:moveTo>
                  <a:lnTo>
                    <a:pt x="10227074" y="0"/>
                  </a:lnTo>
                  <a:lnTo>
                    <a:pt x="10227074" y="2740279"/>
                  </a:lnTo>
                  <a:lnTo>
                    <a:pt x="0" y="27402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0" t="0" r="-7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3532400" y="7026336"/>
            <a:ext cx="11223200" cy="1028474"/>
            <a:chOff x="0" y="0"/>
            <a:chExt cx="11155680" cy="10222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155680" cy="1022350"/>
            </a:xfrm>
            <a:custGeom>
              <a:avLst/>
              <a:gdLst/>
              <a:ahLst/>
              <a:cxnLst/>
              <a:rect r="r" b="b" t="t" l="l"/>
              <a:pathLst>
                <a:path h="102235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1022350"/>
                  </a:lnTo>
                  <a:lnTo>
                    <a:pt x="0" y="1022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5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30994" y="964016"/>
            <a:ext cx="6640014" cy="1604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6011" spc="-173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과정별 공지사항</a:t>
            </a:r>
          </a:p>
          <a:p>
            <a:pPr algn="l">
              <a:lnSpc>
                <a:spcPts val="613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51560" y="2949254"/>
            <a:ext cx="16184880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1"/>
              </a:lnSpc>
            </a:pPr>
            <a:r>
              <a:rPr lang="en-US" sz="3200" spc="-120">
                <a:solidFill>
                  <a:srgbClr val="737373">
                    <a:alpha val="69804"/>
                  </a:srgbClr>
                </a:solidFill>
                <a:latin typeface="Arimo"/>
                <a:ea typeface="Arimo"/>
                <a:cs typeface="Arimo"/>
                <a:sym typeface="Arimo"/>
              </a:rPr>
              <a:t>특정 개설과정에 등록된 공지사항이 최신순으로 정상 조회되는지 검증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7287" y="2061420"/>
            <a:ext cx="17053417" cy="7607551"/>
          </a:xfrm>
          <a:custGeom>
            <a:avLst/>
            <a:gdLst/>
            <a:ahLst/>
            <a:cxnLst/>
            <a:rect r="r" b="b" t="t" l="l"/>
            <a:pathLst>
              <a:path h="7607551" w="17053417">
                <a:moveTo>
                  <a:pt x="0" y="0"/>
                </a:moveTo>
                <a:lnTo>
                  <a:pt x="17053417" y="0"/>
                </a:lnTo>
                <a:lnTo>
                  <a:pt x="17053417" y="7607550"/>
                </a:lnTo>
                <a:lnTo>
                  <a:pt x="0" y="7607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" r="0" b="-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920610" y="2045218"/>
            <a:ext cx="281750" cy="894493"/>
            <a:chOff x="0" y="0"/>
            <a:chExt cx="375666" cy="11926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5666" cy="1192657"/>
            </a:xfrm>
            <a:custGeom>
              <a:avLst/>
              <a:gdLst/>
              <a:ahLst/>
              <a:cxnLst/>
              <a:rect r="r" b="b" t="t" l="l"/>
              <a:pathLst>
                <a:path h="1192657" w="375666">
                  <a:moveTo>
                    <a:pt x="0" y="0"/>
                  </a:moveTo>
                  <a:lnTo>
                    <a:pt x="375666" y="0"/>
                  </a:lnTo>
                  <a:lnTo>
                    <a:pt x="375666" y="1192657"/>
                  </a:lnTo>
                  <a:lnTo>
                    <a:pt x="0" y="119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7" t="0" r="-267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81075" y="1047750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4"/>
                </a:lnTo>
                <a:lnTo>
                  <a:pt x="0" y="3839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250520" y="3551049"/>
            <a:ext cx="9786950" cy="2943731"/>
            <a:chOff x="0" y="0"/>
            <a:chExt cx="10241280" cy="30803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41280" cy="3080385"/>
            </a:xfrm>
            <a:custGeom>
              <a:avLst/>
              <a:gdLst/>
              <a:ahLst/>
              <a:cxnLst/>
              <a:rect r="r" b="b" t="t" l="l"/>
              <a:pathLst>
                <a:path h="3080385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080385"/>
                  </a:lnTo>
                  <a:lnTo>
                    <a:pt x="0" y="30803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250520" y="6845300"/>
            <a:ext cx="11209180" cy="2014245"/>
            <a:chOff x="0" y="0"/>
            <a:chExt cx="11155680" cy="20046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155680" cy="2004695"/>
            </a:xfrm>
            <a:custGeom>
              <a:avLst/>
              <a:gdLst/>
              <a:ahLst/>
              <a:cxnLst/>
              <a:rect r="r" b="b" t="t" l="l"/>
              <a:pathLst>
                <a:path h="2004695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2004695"/>
                  </a:lnTo>
                  <a:lnTo>
                    <a:pt x="0" y="2004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2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59331" y="964016"/>
            <a:ext cx="4040788" cy="1604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6011" spc="-173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상담 일지</a:t>
            </a:r>
          </a:p>
          <a:p>
            <a:pPr algn="l">
              <a:lnSpc>
                <a:spcPts val="613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017520" y="2848829"/>
            <a:ext cx="11313160" cy="454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0"/>
              </a:lnSpc>
              <a:spcBef>
                <a:spcPct val="0"/>
              </a:spcBef>
            </a:pPr>
            <a:r>
              <a:rPr lang="en-US" sz="3200" spc="-92">
                <a:solidFill>
                  <a:srgbClr val="222222">
                    <a:alpha val="69804"/>
                  </a:srgbClr>
                </a:solidFill>
                <a:latin typeface="Arimo"/>
                <a:ea typeface="Arimo"/>
                <a:cs typeface="Arimo"/>
                <a:sym typeface="Arimo"/>
              </a:rPr>
              <a:t>교육생별 상담 이력이 담당</a:t>
            </a:r>
            <a:r>
              <a:rPr lang="en-US" sz="3200" spc="-92">
                <a:solidFill>
                  <a:srgbClr val="222222">
                    <a:alpha val="69804"/>
                  </a:srgbClr>
                </a:solidFill>
                <a:latin typeface="Arimo"/>
                <a:ea typeface="Arimo"/>
                <a:cs typeface="Arimo"/>
                <a:sym typeface="Arimo"/>
              </a:rPr>
              <a:t> 교사와 함께 정확히 매칭되는지 검증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7287" y="2061420"/>
            <a:ext cx="17053417" cy="7607551"/>
          </a:xfrm>
          <a:custGeom>
            <a:avLst/>
            <a:gdLst/>
            <a:ahLst/>
            <a:cxnLst/>
            <a:rect r="r" b="b" t="t" l="l"/>
            <a:pathLst>
              <a:path h="7607551" w="17053417">
                <a:moveTo>
                  <a:pt x="0" y="0"/>
                </a:moveTo>
                <a:lnTo>
                  <a:pt x="17053417" y="0"/>
                </a:lnTo>
                <a:lnTo>
                  <a:pt x="17053417" y="7607550"/>
                </a:lnTo>
                <a:lnTo>
                  <a:pt x="0" y="7607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" r="0" b="-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920610" y="2045218"/>
            <a:ext cx="281750" cy="894493"/>
            <a:chOff x="0" y="0"/>
            <a:chExt cx="375666" cy="11926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5666" cy="1192657"/>
            </a:xfrm>
            <a:custGeom>
              <a:avLst/>
              <a:gdLst/>
              <a:ahLst/>
              <a:cxnLst/>
              <a:rect r="r" b="b" t="t" l="l"/>
              <a:pathLst>
                <a:path h="1192657" w="375666">
                  <a:moveTo>
                    <a:pt x="0" y="0"/>
                  </a:moveTo>
                  <a:lnTo>
                    <a:pt x="375666" y="0"/>
                  </a:lnTo>
                  <a:lnTo>
                    <a:pt x="375666" y="1192657"/>
                  </a:lnTo>
                  <a:lnTo>
                    <a:pt x="0" y="119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7" t="0" r="-267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81075" y="1047750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4"/>
                </a:lnTo>
                <a:lnTo>
                  <a:pt x="0" y="3839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890600" y="3479800"/>
            <a:ext cx="10506790" cy="2587883"/>
            <a:chOff x="0" y="0"/>
            <a:chExt cx="10241280" cy="25224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41280" cy="2522474"/>
            </a:xfrm>
            <a:custGeom>
              <a:avLst/>
              <a:gdLst/>
              <a:ahLst/>
              <a:cxnLst/>
              <a:rect r="r" b="b" t="t" l="l"/>
              <a:pathLst>
                <a:path h="252247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522474"/>
                  </a:lnTo>
                  <a:lnTo>
                    <a:pt x="0" y="2522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3890600" y="6467733"/>
            <a:ext cx="10506790" cy="2670502"/>
            <a:chOff x="0" y="0"/>
            <a:chExt cx="11447676" cy="29096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447676" cy="2909697"/>
            </a:xfrm>
            <a:custGeom>
              <a:avLst/>
              <a:gdLst/>
              <a:ahLst/>
              <a:cxnLst/>
              <a:rect r="r" b="b" t="t" l="l"/>
              <a:pathLst>
                <a:path h="2909697" w="11447676">
                  <a:moveTo>
                    <a:pt x="0" y="0"/>
                  </a:moveTo>
                  <a:lnTo>
                    <a:pt x="11447676" y="0"/>
                  </a:lnTo>
                  <a:lnTo>
                    <a:pt x="11447676" y="2909697"/>
                  </a:lnTo>
                  <a:lnTo>
                    <a:pt x="0" y="2909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308" r="0" b="-1306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16821" y="964016"/>
            <a:ext cx="2040436" cy="1528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6011" spc="-173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소모임</a:t>
            </a:r>
          </a:p>
          <a:p>
            <a:pPr algn="l">
              <a:lnSpc>
                <a:spcPts val="613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208466" y="2621714"/>
            <a:ext cx="11048107" cy="454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0"/>
              </a:lnSpc>
              <a:spcBef>
                <a:spcPct val="0"/>
              </a:spcBef>
            </a:pPr>
            <a:r>
              <a:rPr lang="en-US" sz="3200" spc="-92">
                <a:solidFill>
                  <a:srgbClr val="222222">
                    <a:alpha val="69804"/>
                  </a:srgbClr>
                </a:solidFill>
                <a:latin typeface="Arimo"/>
                <a:ea typeface="Arimo"/>
                <a:cs typeface="Arimo"/>
                <a:sym typeface="Arimo"/>
              </a:rPr>
              <a:t>모집 중인 소모임의 실시간 참여 인원 현황이</a:t>
            </a:r>
            <a:r>
              <a:rPr lang="en-US" sz="3200" spc="-92">
                <a:solidFill>
                  <a:srgbClr val="222222">
                    <a:alpha val="69804"/>
                  </a:srgbClr>
                </a:solidFill>
                <a:latin typeface="Arimo"/>
                <a:ea typeface="Arimo"/>
                <a:cs typeface="Arimo"/>
                <a:sym typeface="Arimo"/>
              </a:rPr>
              <a:t> 정확히 집계되는지 검증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7762" y="2061420"/>
            <a:ext cx="17053417" cy="7607551"/>
          </a:xfrm>
          <a:custGeom>
            <a:avLst/>
            <a:gdLst/>
            <a:ahLst/>
            <a:cxnLst/>
            <a:rect r="r" b="b" t="t" l="l"/>
            <a:pathLst>
              <a:path h="7607551" w="17053417">
                <a:moveTo>
                  <a:pt x="0" y="0"/>
                </a:moveTo>
                <a:lnTo>
                  <a:pt x="17053417" y="0"/>
                </a:lnTo>
                <a:lnTo>
                  <a:pt x="17053417" y="7607550"/>
                </a:lnTo>
                <a:lnTo>
                  <a:pt x="0" y="7607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" r="0" b="-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920610" y="2045218"/>
            <a:ext cx="281750" cy="894493"/>
            <a:chOff x="0" y="0"/>
            <a:chExt cx="375666" cy="11926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5666" cy="1192657"/>
            </a:xfrm>
            <a:custGeom>
              <a:avLst/>
              <a:gdLst/>
              <a:ahLst/>
              <a:cxnLst/>
              <a:rect r="r" b="b" t="t" l="l"/>
              <a:pathLst>
                <a:path h="1192657" w="375666">
                  <a:moveTo>
                    <a:pt x="0" y="0"/>
                  </a:moveTo>
                  <a:lnTo>
                    <a:pt x="375666" y="0"/>
                  </a:lnTo>
                  <a:lnTo>
                    <a:pt x="375666" y="1192657"/>
                  </a:lnTo>
                  <a:lnTo>
                    <a:pt x="0" y="119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7" t="0" r="-267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81075" y="1047750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4"/>
                </a:lnTo>
                <a:lnTo>
                  <a:pt x="0" y="3839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149899" y="3337255"/>
            <a:ext cx="8336571" cy="3260639"/>
            <a:chOff x="0" y="0"/>
            <a:chExt cx="10241280" cy="40056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41280" cy="4005580"/>
            </a:xfrm>
            <a:custGeom>
              <a:avLst/>
              <a:gdLst/>
              <a:ahLst/>
              <a:cxnLst/>
              <a:rect r="r" b="b" t="t" l="l"/>
              <a:pathLst>
                <a:path h="40055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4005580"/>
                  </a:lnTo>
                  <a:lnTo>
                    <a:pt x="0" y="4005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3483433" y="7131393"/>
            <a:ext cx="9669503" cy="1581312"/>
            <a:chOff x="0" y="0"/>
            <a:chExt cx="11155680" cy="18243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155680" cy="1824355"/>
            </a:xfrm>
            <a:custGeom>
              <a:avLst/>
              <a:gdLst/>
              <a:ahLst/>
              <a:cxnLst/>
              <a:rect r="r" b="b" t="t" l="l"/>
              <a:pathLst>
                <a:path h="1824355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1824355"/>
                  </a:lnTo>
                  <a:lnTo>
                    <a:pt x="0" y="1824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30994" y="960034"/>
            <a:ext cx="3685188" cy="1604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6011" spc="-173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강의 이력</a:t>
            </a:r>
          </a:p>
          <a:p>
            <a:pPr algn="l">
              <a:lnSpc>
                <a:spcPts val="613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4149899" y="2593340"/>
            <a:ext cx="8718203" cy="454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0"/>
              </a:lnSpc>
              <a:spcBef>
                <a:spcPct val="0"/>
              </a:spcBef>
            </a:pPr>
            <a:r>
              <a:rPr lang="en-US" sz="3200" spc="-92">
                <a:solidFill>
                  <a:srgbClr val="222222">
                    <a:alpha val="69804"/>
                  </a:srgbClr>
                </a:solidFill>
                <a:latin typeface="Arimo"/>
                <a:ea typeface="Arimo"/>
                <a:cs typeface="Arimo"/>
                <a:sym typeface="Arimo"/>
              </a:rPr>
              <a:t>정상 종료(완료)된 강의만 필터링되어</a:t>
            </a:r>
            <a:r>
              <a:rPr lang="en-US" sz="3200" spc="-92">
                <a:solidFill>
                  <a:srgbClr val="222222">
                    <a:alpha val="69804"/>
                  </a:srgbClr>
                </a:solidFill>
                <a:latin typeface="Arimo"/>
                <a:ea typeface="Arimo"/>
                <a:cs typeface="Arimo"/>
                <a:sym typeface="Arimo"/>
              </a:rPr>
              <a:t> 조회되는지 검증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7287" y="2061420"/>
            <a:ext cx="17053417" cy="7607551"/>
          </a:xfrm>
          <a:custGeom>
            <a:avLst/>
            <a:gdLst/>
            <a:ahLst/>
            <a:cxnLst/>
            <a:rect r="r" b="b" t="t" l="l"/>
            <a:pathLst>
              <a:path h="7607551" w="17053417">
                <a:moveTo>
                  <a:pt x="0" y="0"/>
                </a:moveTo>
                <a:lnTo>
                  <a:pt x="17053417" y="0"/>
                </a:lnTo>
                <a:lnTo>
                  <a:pt x="17053417" y="7607550"/>
                </a:lnTo>
                <a:lnTo>
                  <a:pt x="0" y="7607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" r="0" b="-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920610" y="2045218"/>
            <a:ext cx="281750" cy="894493"/>
            <a:chOff x="0" y="0"/>
            <a:chExt cx="375666" cy="11926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5666" cy="1192657"/>
            </a:xfrm>
            <a:custGeom>
              <a:avLst/>
              <a:gdLst/>
              <a:ahLst/>
              <a:cxnLst/>
              <a:rect r="r" b="b" t="t" l="l"/>
              <a:pathLst>
                <a:path h="1192657" w="375666">
                  <a:moveTo>
                    <a:pt x="0" y="0"/>
                  </a:moveTo>
                  <a:lnTo>
                    <a:pt x="375666" y="0"/>
                  </a:lnTo>
                  <a:lnTo>
                    <a:pt x="375666" y="1192657"/>
                  </a:lnTo>
                  <a:lnTo>
                    <a:pt x="0" y="119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7" t="0" r="-267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81075" y="1047750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4"/>
                </a:lnTo>
                <a:lnTo>
                  <a:pt x="0" y="3839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696460" y="3271409"/>
            <a:ext cx="7680960" cy="4102589"/>
            <a:chOff x="0" y="0"/>
            <a:chExt cx="10241280" cy="54701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41280" cy="5470144"/>
            </a:xfrm>
            <a:custGeom>
              <a:avLst/>
              <a:gdLst/>
              <a:ahLst/>
              <a:cxnLst/>
              <a:rect r="r" b="b" t="t" l="l"/>
              <a:pathLst>
                <a:path h="547014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470144"/>
                  </a:lnTo>
                  <a:lnTo>
                    <a:pt x="0" y="5470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696460" y="7594600"/>
            <a:ext cx="7919720" cy="1750038"/>
            <a:chOff x="0" y="0"/>
            <a:chExt cx="10559627" cy="23333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59627" cy="2333371"/>
            </a:xfrm>
            <a:custGeom>
              <a:avLst/>
              <a:gdLst/>
              <a:ahLst/>
              <a:cxnLst/>
              <a:rect r="r" b="b" t="t" l="l"/>
              <a:pathLst>
                <a:path h="2333371" w="10559627">
                  <a:moveTo>
                    <a:pt x="0" y="0"/>
                  </a:moveTo>
                  <a:lnTo>
                    <a:pt x="10559627" y="0"/>
                  </a:lnTo>
                  <a:lnTo>
                    <a:pt x="10559627" y="2333371"/>
                  </a:lnTo>
                  <a:lnTo>
                    <a:pt x="0" y="23333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822" t="0" r="-2822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75486" y="806326"/>
            <a:ext cx="3926488" cy="2376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6011" spc="-173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취업 관리</a:t>
            </a:r>
          </a:p>
          <a:p>
            <a:pPr algn="l">
              <a:lnSpc>
                <a:spcPts val="6125"/>
              </a:lnSpc>
            </a:pPr>
          </a:p>
          <a:p>
            <a:pPr algn="l">
              <a:lnSpc>
                <a:spcPts val="613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076301" y="2726712"/>
            <a:ext cx="14135398" cy="454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0"/>
              </a:lnSpc>
              <a:spcBef>
                <a:spcPct val="0"/>
              </a:spcBef>
            </a:pPr>
            <a:r>
              <a:rPr lang="en-US" sz="3200" spc="-92">
                <a:solidFill>
                  <a:srgbClr val="222222">
                    <a:alpha val="70980"/>
                  </a:srgbClr>
                </a:solidFill>
                <a:latin typeface="Arimo"/>
                <a:ea typeface="Arimo"/>
                <a:cs typeface="Arimo"/>
                <a:sym typeface="Arimo"/>
              </a:rPr>
              <a:t>수료생의 사후</a:t>
            </a:r>
            <a:r>
              <a:rPr lang="en-US" sz="3200" spc="-92">
                <a:solidFill>
                  <a:srgbClr val="222222">
                    <a:alpha val="70980"/>
                  </a:srgbClr>
                </a:solidFill>
                <a:latin typeface="Arimo"/>
                <a:ea typeface="Arimo"/>
                <a:cs typeface="Arimo"/>
                <a:sym typeface="Arimo"/>
              </a:rPr>
              <a:t> 취업 현황(취업여부·기업명·고용보험가입여부)이 정확히 등록되는지 검증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7673818" y="233477"/>
            <a:ext cx="85658" cy="380705"/>
          </a:xfrm>
          <a:custGeom>
            <a:avLst/>
            <a:gdLst/>
            <a:ahLst/>
            <a:cxnLst/>
            <a:rect r="r" b="b" t="t" l="l"/>
            <a:pathLst>
              <a:path h="380705" w="85658">
                <a:moveTo>
                  <a:pt x="0" y="0"/>
                </a:moveTo>
                <a:lnTo>
                  <a:pt x="85659" y="0"/>
                </a:lnTo>
                <a:lnTo>
                  <a:pt x="85659" y="380705"/>
                </a:lnTo>
                <a:lnTo>
                  <a:pt x="0" y="380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559" t="0" r="-554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1075" y="1144457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5"/>
                </a:lnTo>
                <a:lnTo>
                  <a:pt x="0" y="3839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63235" y="2234022"/>
            <a:ext cx="17053417" cy="7607551"/>
          </a:xfrm>
          <a:custGeom>
            <a:avLst/>
            <a:gdLst/>
            <a:ahLst/>
            <a:cxnLst/>
            <a:rect r="r" b="b" t="t" l="l"/>
            <a:pathLst>
              <a:path h="7607551" w="17053417">
                <a:moveTo>
                  <a:pt x="0" y="0"/>
                </a:moveTo>
                <a:lnTo>
                  <a:pt x="17053417" y="0"/>
                </a:lnTo>
                <a:lnTo>
                  <a:pt x="17053417" y="7607551"/>
                </a:lnTo>
                <a:lnTo>
                  <a:pt x="0" y="76075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2" r="0" b="-2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377962" y="2209048"/>
            <a:ext cx="281750" cy="894493"/>
            <a:chOff x="0" y="0"/>
            <a:chExt cx="375666" cy="11926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5666" cy="1192657"/>
            </a:xfrm>
            <a:custGeom>
              <a:avLst/>
              <a:gdLst/>
              <a:ahLst/>
              <a:cxnLst/>
              <a:rect r="r" b="b" t="t" l="l"/>
              <a:pathLst>
                <a:path h="1192657" w="375666">
                  <a:moveTo>
                    <a:pt x="0" y="0"/>
                  </a:moveTo>
                  <a:lnTo>
                    <a:pt x="375666" y="0"/>
                  </a:lnTo>
                  <a:lnTo>
                    <a:pt x="375666" y="1192657"/>
                  </a:lnTo>
                  <a:lnTo>
                    <a:pt x="0" y="119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67" t="0" r="-267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76274" y="4105466"/>
            <a:ext cx="13795724" cy="5278184"/>
            <a:chOff x="0" y="0"/>
            <a:chExt cx="18394299" cy="70375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394299" cy="7037578"/>
            </a:xfrm>
            <a:custGeom>
              <a:avLst/>
              <a:gdLst/>
              <a:ahLst/>
              <a:cxnLst/>
              <a:rect r="r" b="b" t="t" l="l"/>
              <a:pathLst>
                <a:path h="7037578" w="18394299">
                  <a:moveTo>
                    <a:pt x="0" y="0"/>
                  </a:moveTo>
                  <a:lnTo>
                    <a:pt x="18394299" y="0"/>
                  </a:lnTo>
                  <a:lnTo>
                    <a:pt x="18394299" y="7037578"/>
                  </a:lnTo>
                  <a:lnTo>
                    <a:pt x="0" y="7037578"/>
                  </a:lnTo>
                  <a:close/>
                </a:path>
              </a:pathLst>
            </a:custGeom>
            <a:blipFill>
              <a:blip r:embed="rId9"/>
              <a:stretch>
                <a:fillRect l="-2505" t="0" r="-2505" b="0"/>
              </a:stretch>
            </a:blipFill>
            <a:ln w="19050" cap="sq">
              <a:solidFill>
                <a:srgbClr val="222222"/>
              </a:solidFill>
              <a:prstDash val="solid"/>
              <a:miter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173032" y="2855566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6"/>
                </a:lnTo>
                <a:lnTo>
                  <a:pt x="0" y="1683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832" t="0" r="-832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471917" y="5543921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6"/>
                </a:lnTo>
                <a:lnTo>
                  <a:pt x="0" y="1683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832" t="0" r="-832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471917" y="7169648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6"/>
                </a:lnTo>
                <a:lnTo>
                  <a:pt x="0" y="1683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832" t="0" r="-832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17637" y="1035291"/>
            <a:ext cx="7626363" cy="716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0"/>
              </a:lnSpc>
            </a:pPr>
            <a:r>
              <a:rPr lang="en-US" sz="5511" spc="-164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업무 SQL 개요 · 인덱스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09332" y="2772356"/>
            <a:ext cx="3054106" cy="391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8"/>
              </a:lnSpc>
            </a:pPr>
            <a:r>
              <a:rPr lang="en-US" sz="2979" spc="-119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FK  조인인용 인덱스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17637" y="3258322"/>
            <a:ext cx="7954280" cy="482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2"/>
              </a:lnSpc>
            </a:pPr>
            <a:r>
              <a:rPr lang="en-US" sz="2328" spc="-23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JOIN이 빈번한 외래키 컬럼에 인덱스르 생성하여 조회 성능 향상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7673818" y="233477"/>
            <a:ext cx="85658" cy="380705"/>
          </a:xfrm>
          <a:custGeom>
            <a:avLst/>
            <a:gdLst/>
            <a:ahLst/>
            <a:cxnLst/>
            <a:rect r="r" b="b" t="t" l="l"/>
            <a:pathLst>
              <a:path h="380705" w="85658">
                <a:moveTo>
                  <a:pt x="0" y="0"/>
                </a:moveTo>
                <a:lnTo>
                  <a:pt x="85659" y="0"/>
                </a:lnTo>
                <a:lnTo>
                  <a:pt x="85659" y="380705"/>
                </a:lnTo>
                <a:lnTo>
                  <a:pt x="0" y="380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559" t="0" r="-554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1075" y="1144457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5"/>
                </a:lnTo>
                <a:lnTo>
                  <a:pt x="0" y="3839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63235" y="2234022"/>
            <a:ext cx="17053417" cy="7607551"/>
          </a:xfrm>
          <a:custGeom>
            <a:avLst/>
            <a:gdLst/>
            <a:ahLst/>
            <a:cxnLst/>
            <a:rect r="r" b="b" t="t" l="l"/>
            <a:pathLst>
              <a:path h="7607551" w="17053417">
                <a:moveTo>
                  <a:pt x="0" y="0"/>
                </a:moveTo>
                <a:lnTo>
                  <a:pt x="17053417" y="0"/>
                </a:lnTo>
                <a:lnTo>
                  <a:pt x="17053417" y="7607551"/>
                </a:lnTo>
                <a:lnTo>
                  <a:pt x="0" y="76075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2" r="0" b="-2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377962" y="2209048"/>
            <a:ext cx="281750" cy="894493"/>
            <a:chOff x="0" y="0"/>
            <a:chExt cx="375666" cy="11926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5666" cy="1192657"/>
            </a:xfrm>
            <a:custGeom>
              <a:avLst/>
              <a:gdLst/>
              <a:ahLst/>
              <a:cxnLst/>
              <a:rect r="r" b="b" t="t" l="l"/>
              <a:pathLst>
                <a:path h="1192657" w="375666">
                  <a:moveTo>
                    <a:pt x="0" y="0"/>
                  </a:moveTo>
                  <a:lnTo>
                    <a:pt x="375666" y="0"/>
                  </a:lnTo>
                  <a:lnTo>
                    <a:pt x="375666" y="1192657"/>
                  </a:lnTo>
                  <a:lnTo>
                    <a:pt x="0" y="119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67" t="0" r="-267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75779" y="4107304"/>
            <a:ext cx="15362577" cy="3914994"/>
            <a:chOff x="0" y="0"/>
            <a:chExt cx="20483436" cy="52199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483449" cy="5219954"/>
            </a:xfrm>
            <a:custGeom>
              <a:avLst/>
              <a:gdLst/>
              <a:ahLst/>
              <a:cxnLst/>
              <a:rect r="r" b="b" t="t" l="l"/>
              <a:pathLst>
                <a:path h="5219954" w="20483449">
                  <a:moveTo>
                    <a:pt x="0" y="0"/>
                  </a:moveTo>
                  <a:lnTo>
                    <a:pt x="20483449" y="0"/>
                  </a:lnTo>
                  <a:lnTo>
                    <a:pt x="20483449" y="5219954"/>
                  </a:lnTo>
                  <a:lnTo>
                    <a:pt x="0" y="5219954"/>
                  </a:lnTo>
                  <a:close/>
                </a:path>
              </a:pathLst>
            </a:custGeom>
            <a:blipFill>
              <a:blip r:embed="rId9"/>
              <a:stretch>
                <a:fillRect l="-3284" t="0" r="-3284" b="0"/>
              </a:stretch>
            </a:blipFill>
            <a:ln w="19050" cap="sq">
              <a:solidFill>
                <a:srgbClr val="222222"/>
              </a:solidFill>
              <a:prstDash val="solid"/>
              <a:miter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173032" y="2855566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6"/>
                </a:lnTo>
                <a:lnTo>
                  <a:pt x="0" y="1683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832" t="0" r="-832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471917" y="5543921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6"/>
                </a:lnTo>
                <a:lnTo>
                  <a:pt x="0" y="1683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832" t="0" r="-832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471917" y="7169648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6"/>
                </a:lnTo>
                <a:lnTo>
                  <a:pt x="0" y="1683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832" t="0" r="-832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17637" y="1035291"/>
            <a:ext cx="7626363" cy="716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0"/>
              </a:lnSpc>
            </a:pPr>
            <a:r>
              <a:rPr lang="en-US" sz="5511" spc="-164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업무 SQL 개요 · 인덱스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09332" y="2772356"/>
            <a:ext cx="3689594" cy="391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8"/>
              </a:lnSpc>
            </a:pPr>
            <a:r>
              <a:rPr lang="en-US" sz="2979" spc="-119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검색/ 필터 조건용 인덱스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17637" y="3258322"/>
            <a:ext cx="8543696" cy="482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2"/>
              </a:lnSpc>
            </a:pPr>
            <a:r>
              <a:rPr lang="en-US" sz="2328" spc="-23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WHERE절에 자주 사용되는 컬럼에 인덱스를 생성하여 조회 성능 향상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7673818" y="233477"/>
            <a:ext cx="85658" cy="380705"/>
          </a:xfrm>
          <a:custGeom>
            <a:avLst/>
            <a:gdLst/>
            <a:ahLst/>
            <a:cxnLst/>
            <a:rect r="r" b="b" t="t" l="l"/>
            <a:pathLst>
              <a:path h="380705" w="85658">
                <a:moveTo>
                  <a:pt x="0" y="0"/>
                </a:moveTo>
                <a:lnTo>
                  <a:pt x="85659" y="0"/>
                </a:lnTo>
                <a:lnTo>
                  <a:pt x="85659" y="380705"/>
                </a:lnTo>
                <a:lnTo>
                  <a:pt x="0" y="380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559" t="0" r="-554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3235" y="2234022"/>
            <a:ext cx="17053417" cy="7607551"/>
          </a:xfrm>
          <a:custGeom>
            <a:avLst/>
            <a:gdLst/>
            <a:ahLst/>
            <a:cxnLst/>
            <a:rect r="r" b="b" t="t" l="l"/>
            <a:pathLst>
              <a:path h="7607551" w="17053417">
                <a:moveTo>
                  <a:pt x="0" y="0"/>
                </a:moveTo>
                <a:lnTo>
                  <a:pt x="17053417" y="0"/>
                </a:lnTo>
                <a:lnTo>
                  <a:pt x="17053417" y="7607551"/>
                </a:lnTo>
                <a:lnTo>
                  <a:pt x="0" y="76075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" r="0" b="-2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377962" y="2209048"/>
            <a:ext cx="281750" cy="894493"/>
            <a:chOff x="0" y="0"/>
            <a:chExt cx="375666" cy="11926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5666" cy="1192657"/>
            </a:xfrm>
            <a:custGeom>
              <a:avLst/>
              <a:gdLst/>
              <a:ahLst/>
              <a:cxnLst/>
              <a:rect r="r" b="b" t="t" l="l"/>
              <a:pathLst>
                <a:path h="1192657" w="375666">
                  <a:moveTo>
                    <a:pt x="0" y="0"/>
                  </a:moveTo>
                  <a:lnTo>
                    <a:pt x="375666" y="0"/>
                  </a:lnTo>
                  <a:lnTo>
                    <a:pt x="375666" y="1192657"/>
                  </a:lnTo>
                  <a:lnTo>
                    <a:pt x="0" y="119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67" t="0" r="-267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76770" y="4108304"/>
            <a:ext cx="13610044" cy="2837593"/>
            <a:chOff x="0" y="0"/>
            <a:chExt cx="18146725" cy="37834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146776" cy="3783457"/>
            </a:xfrm>
            <a:custGeom>
              <a:avLst/>
              <a:gdLst/>
              <a:ahLst/>
              <a:cxnLst/>
              <a:rect r="r" b="b" t="t" l="l"/>
              <a:pathLst>
                <a:path h="3783457" w="18146776">
                  <a:moveTo>
                    <a:pt x="0" y="0"/>
                  </a:moveTo>
                  <a:lnTo>
                    <a:pt x="18146776" y="0"/>
                  </a:lnTo>
                  <a:lnTo>
                    <a:pt x="18146776" y="3783457"/>
                  </a:lnTo>
                  <a:lnTo>
                    <a:pt x="0" y="3783457"/>
                  </a:lnTo>
                  <a:close/>
                </a:path>
              </a:pathLst>
            </a:custGeom>
            <a:blipFill>
              <a:blip r:embed="rId7"/>
              <a:stretch>
                <a:fillRect l="-2486" t="0" r="-2486" b="0"/>
              </a:stretch>
            </a:blipFill>
            <a:ln w="19050" cap="sq">
              <a:solidFill>
                <a:srgbClr val="222222"/>
              </a:solidFill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173032" y="2855566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6"/>
                </a:lnTo>
                <a:lnTo>
                  <a:pt x="0" y="1683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832" t="0" r="-832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81075" y="1144457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5"/>
                </a:lnTo>
                <a:lnTo>
                  <a:pt x="0" y="3839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17637" y="1035291"/>
            <a:ext cx="7626363" cy="716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0"/>
              </a:lnSpc>
            </a:pPr>
            <a:r>
              <a:rPr lang="en-US" sz="5511" spc="-164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업무 SQL 개요 · 인덱스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09332" y="2772356"/>
            <a:ext cx="1664789" cy="391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8"/>
              </a:lnSpc>
            </a:pPr>
            <a:r>
              <a:rPr lang="en-US" sz="2979" spc="-119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복합인덱스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17637" y="3258322"/>
            <a:ext cx="7954280" cy="482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2"/>
              </a:lnSpc>
            </a:pPr>
            <a:r>
              <a:rPr lang="en-US" sz="2328" spc="-23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두개이상의 컬럼을 함께 조회하는 경우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7673818" y="233477"/>
            <a:ext cx="85658" cy="380705"/>
          </a:xfrm>
          <a:custGeom>
            <a:avLst/>
            <a:gdLst/>
            <a:ahLst/>
            <a:cxnLst/>
            <a:rect r="r" b="b" t="t" l="l"/>
            <a:pathLst>
              <a:path h="380705" w="85658">
                <a:moveTo>
                  <a:pt x="0" y="0"/>
                </a:moveTo>
                <a:lnTo>
                  <a:pt x="85659" y="0"/>
                </a:lnTo>
                <a:lnTo>
                  <a:pt x="85659" y="380705"/>
                </a:lnTo>
                <a:lnTo>
                  <a:pt x="0" y="380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559" t="0" r="-554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3235" y="2234022"/>
            <a:ext cx="17053417" cy="7607551"/>
          </a:xfrm>
          <a:custGeom>
            <a:avLst/>
            <a:gdLst/>
            <a:ahLst/>
            <a:cxnLst/>
            <a:rect r="r" b="b" t="t" l="l"/>
            <a:pathLst>
              <a:path h="7607551" w="17053417">
                <a:moveTo>
                  <a:pt x="0" y="0"/>
                </a:moveTo>
                <a:lnTo>
                  <a:pt x="17053417" y="0"/>
                </a:lnTo>
                <a:lnTo>
                  <a:pt x="17053417" y="7607551"/>
                </a:lnTo>
                <a:lnTo>
                  <a:pt x="0" y="76075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" r="0" b="-2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377962" y="2209048"/>
            <a:ext cx="281750" cy="894493"/>
            <a:chOff x="0" y="0"/>
            <a:chExt cx="375666" cy="11926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5666" cy="1192657"/>
            </a:xfrm>
            <a:custGeom>
              <a:avLst/>
              <a:gdLst/>
              <a:ahLst/>
              <a:cxnLst/>
              <a:rect r="r" b="b" t="t" l="l"/>
              <a:pathLst>
                <a:path h="1192657" w="375666">
                  <a:moveTo>
                    <a:pt x="0" y="0"/>
                  </a:moveTo>
                  <a:lnTo>
                    <a:pt x="375666" y="0"/>
                  </a:lnTo>
                  <a:lnTo>
                    <a:pt x="375666" y="1192657"/>
                  </a:lnTo>
                  <a:lnTo>
                    <a:pt x="0" y="119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67" t="0" r="-267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77475" y="3966124"/>
            <a:ext cx="11028569" cy="3980945"/>
            <a:chOff x="0" y="0"/>
            <a:chExt cx="14704758" cy="53079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704695" cy="5307965"/>
            </a:xfrm>
            <a:custGeom>
              <a:avLst/>
              <a:gdLst/>
              <a:ahLst/>
              <a:cxnLst/>
              <a:rect r="r" b="b" t="t" l="l"/>
              <a:pathLst>
                <a:path h="5307965" w="14704695">
                  <a:moveTo>
                    <a:pt x="0" y="0"/>
                  </a:moveTo>
                  <a:lnTo>
                    <a:pt x="14704695" y="0"/>
                  </a:lnTo>
                  <a:lnTo>
                    <a:pt x="14704695" y="5307965"/>
                  </a:lnTo>
                  <a:lnTo>
                    <a:pt x="0" y="5307965"/>
                  </a:lnTo>
                  <a:close/>
                </a:path>
              </a:pathLst>
            </a:custGeom>
            <a:blipFill>
              <a:blip r:embed="rId7"/>
              <a:stretch>
                <a:fillRect l="-1655" t="0" r="-1655" b="0"/>
              </a:stretch>
            </a:blipFill>
            <a:ln w="19050" cap="sq">
              <a:solidFill>
                <a:srgbClr val="222222"/>
              </a:solidFill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173032" y="2855566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6"/>
                </a:lnTo>
                <a:lnTo>
                  <a:pt x="0" y="1683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832" t="0" r="-832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81075" y="1144457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5"/>
                </a:lnTo>
                <a:lnTo>
                  <a:pt x="0" y="3839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64999" y="951090"/>
            <a:ext cx="7626363" cy="716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0"/>
              </a:lnSpc>
            </a:pPr>
            <a:r>
              <a:rPr lang="en-US" sz="5511" spc="-164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업무 SQL 개요 · 뷰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09332" y="2772356"/>
            <a:ext cx="2087766" cy="391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8"/>
              </a:lnSpc>
            </a:pPr>
            <a:r>
              <a:rPr lang="en-US" sz="2979" spc="-119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학생별 출석률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17637" y="3258322"/>
            <a:ext cx="10269845" cy="482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2"/>
              </a:lnSpc>
            </a:pPr>
            <a:r>
              <a:rPr lang="en-US" sz="2328" spc="-23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vwStudentAttendanceRate - 학생별 전체 출결일수 대비 출석 비율을 집계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7673818" y="233477"/>
            <a:ext cx="85658" cy="380705"/>
          </a:xfrm>
          <a:custGeom>
            <a:avLst/>
            <a:gdLst/>
            <a:ahLst/>
            <a:cxnLst/>
            <a:rect r="r" b="b" t="t" l="l"/>
            <a:pathLst>
              <a:path h="380705" w="85658">
                <a:moveTo>
                  <a:pt x="0" y="0"/>
                </a:moveTo>
                <a:lnTo>
                  <a:pt x="85659" y="0"/>
                </a:lnTo>
                <a:lnTo>
                  <a:pt x="85659" y="380705"/>
                </a:lnTo>
                <a:lnTo>
                  <a:pt x="0" y="380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559" t="0" r="-554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3235" y="2234022"/>
            <a:ext cx="17053417" cy="7607551"/>
          </a:xfrm>
          <a:custGeom>
            <a:avLst/>
            <a:gdLst/>
            <a:ahLst/>
            <a:cxnLst/>
            <a:rect r="r" b="b" t="t" l="l"/>
            <a:pathLst>
              <a:path h="7607551" w="17053417">
                <a:moveTo>
                  <a:pt x="0" y="0"/>
                </a:moveTo>
                <a:lnTo>
                  <a:pt x="17053417" y="0"/>
                </a:lnTo>
                <a:lnTo>
                  <a:pt x="17053417" y="7607551"/>
                </a:lnTo>
                <a:lnTo>
                  <a:pt x="0" y="76075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" r="0" b="-2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377962" y="2209048"/>
            <a:ext cx="281750" cy="894493"/>
            <a:chOff x="0" y="0"/>
            <a:chExt cx="375666" cy="11926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5666" cy="1192657"/>
            </a:xfrm>
            <a:custGeom>
              <a:avLst/>
              <a:gdLst/>
              <a:ahLst/>
              <a:cxnLst/>
              <a:rect r="r" b="b" t="t" l="l"/>
              <a:pathLst>
                <a:path h="1192657" w="375666">
                  <a:moveTo>
                    <a:pt x="0" y="0"/>
                  </a:moveTo>
                  <a:lnTo>
                    <a:pt x="375666" y="0"/>
                  </a:lnTo>
                  <a:lnTo>
                    <a:pt x="375666" y="1192657"/>
                  </a:lnTo>
                  <a:lnTo>
                    <a:pt x="0" y="119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67" t="0" r="-267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5519" y="3966553"/>
            <a:ext cx="9735779" cy="4350525"/>
            <a:chOff x="0" y="0"/>
            <a:chExt cx="12981038" cy="5800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981051" cy="5800725"/>
            </a:xfrm>
            <a:custGeom>
              <a:avLst/>
              <a:gdLst/>
              <a:ahLst/>
              <a:cxnLst/>
              <a:rect r="r" b="b" t="t" l="l"/>
              <a:pathLst>
                <a:path h="5800725" w="12981051">
                  <a:moveTo>
                    <a:pt x="0" y="0"/>
                  </a:moveTo>
                  <a:lnTo>
                    <a:pt x="12981051" y="0"/>
                  </a:lnTo>
                  <a:lnTo>
                    <a:pt x="12981051" y="5800725"/>
                  </a:lnTo>
                  <a:lnTo>
                    <a:pt x="0" y="5800725"/>
                  </a:lnTo>
                  <a:close/>
                </a:path>
              </a:pathLst>
            </a:custGeom>
            <a:blipFill>
              <a:blip r:embed="rId7"/>
              <a:stretch>
                <a:fillRect l="0" t="-143" r="0" b="-142"/>
              </a:stretch>
            </a:blipFill>
            <a:ln w="19050" cap="sq">
              <a:solidFill>
                <a:srgbClr val="222222"/>
              </a:solidFill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173032" y="2855566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6"/>
                </a:lnTo>
                <a:lnTo>
                  <a:pt x="0" y="1683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832" t="0" r="-832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81075" y="1144457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5"/>
                </a:lnTo>
                <a:lnTo>
                  <a:pt x="0" y="3839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49235" y="951090"/>
            <a:ext cx="7626363" cy="716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0"/>
              </a:lnSpc>
            </a:pPr>
            <a:r>
              <a:rPr lang="en-US" sz="5511" spc="-164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업무 SQL 개요 · 뷰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09332" y="2772356"/>
            <a:ext cx="3356820" cy="391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8"/>
              </a:lnSpc>
            </a:pPr>
            <a:r>
              <a:rPr lang="en-US" sz="2979" spc="-119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학생별 수강 과정  현황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17637" y="3258322"/>
            <a:ext cx="10269845" cy="482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2"/>
              </a:lnSpc>
            </a:pPr>
            <a:r>
              <a:rPr lang="en-US" sz="2328" spc="-23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vwStudentCourseStatus - 학생별로 어떤 과정을 안제 등록해 어떤 상태인지 조회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8085222" y="233477"/>
            <a:ext cx="85658" cy="380705"/>
          </a:xfrm>
          <a:custGeom>
            <a:avLst/>
            <a:gdLst/>
            <a:ahLst/>
            <a:cxnLst/>
            <a:rect r="r" b="b" t="t" l="l"/>
            <a:pathLst>
              <a:path h="380705" w="85658">
                <a:moveTo>
                  <a:pt x="0" y="0"/>
                </a:moveTo>
                <a:lnTo>
                  <a:pt x="85659" y="0"/>
                </a:lnTo>
                <a:lnTo>
                  <a:pt x="85659" y="380705"/>
                </a:lnTo>
                <a:lnTo>
                  <a:pt x="0" y="380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559" t="0" r="-554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7287" y="2070183"/>
            <a:ext cx="17053417" cy="7607551"/>
          </a:xfrm>
          <a:custGeom>
            <a:avLst/>
            <a:gdLst/>
            <a:ahLst/>
            <a:cxnLst/>
            <a:rect r="r" b="b" t="t" l="l"/>
            <a:pathLst>
              <a:path h="7607551" w="17053417">
                <a:moveTo>
                  <a:pt x="0" y="0"/>
                </a:moveTo>
                <a:lnTo>
                  <a:pt x="17053417" y="0"/>
                </a:lnTo>
                <a:lnTo>
                  <a:pt x="17053417" y="7607550"/>
                </a:lnTo>
                <a:lnTo>
                  <a:pt x="0" y="76075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" r="0" b="-2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332014" y="2045218"/>
            <a:ext cx="281750" cy="894493"/>
            <a:chOff x="0" y="0"/>
            <a:chExt cx="375666" cy="11926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5666" cy="1192657"/>
            </a:xfrm>
            <a:custGeom>
              <a:avLst/>
              <a:gdLst/>
              <a:ahLst/>
              <a:cxnLst/>
              <a:rect r="r" b="b" t="t" l="l"/>
              <a:pathLst>
                <a:path h="1192657" w="375666">
                  <a:moveTo>
                    <a:pt x="0" y="0"/>
                  </a:moveTo>
                  <a:lnTo>
                    <a:pt x="375666" y="0"/>
                  </a:lnTo>
                  <a:lnTo>
                    <a:pt x="375666" y="1192657"/>
                  </a:lnTo>
                  <a:lnTo>
                    <a:pt x="0" y="119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67" t="0" r="-267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6656" y="3966277"/>
            <a:ext cx="11440192" cy="4724019"/>
            <a:chOff x="0" y="0"/>
            <a:chExt cx="15253589" cy="62986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253588" cy="6298692"/>
            </a:xfrm>
            <a:custGeom>
              <a:avLst/>
              <a:gdLst/>
              <a:ahLst/>
              <a:cxnLst/>
              <a:rect r="r" b="b" t="t" l="l"/>
              <a:pathLst>
                <a:path h="6298692" w="15253588">
                  <a:moveTo>
                    <a:pt x="0" y="0"/>
                  </a:moveTo>
                  <a:lnTo>
                    <a:pt x="15253588" y="0"/>
                  </a:lnTo>
                  <a:lnTo>
                    <a:pt x="15253588" y="6298692"/>
                  </a:lnTo>
                  <a:lnTo>
                    <a:pt x="0" y="6298692"/>
                  </a:lnTo>
                  <a:close/>
                </a:path>
              </a:pathLst>
            </a:custGeom>
            <a:blipFill>
              <a:blip r:embed="rId7"/>
              <a:stretch>
                <a:fillRect l="0" t="-1200" r="0" b="-1200"/>
              </a:stretch>
            </a:blipFill>
            <a:ln w="19050" cap="sq">
              <a:solidFill>
                <a:srgbClr val="222222"/>
              </a:solidFill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584446" y="2855566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6"/>
                </a:lnTo>
                <a:lnTo>
                  <a:pt x="0" y="1683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832" t="0" r="-832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92479" y="1144457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5"/>
                </a:lnTo>
                <a:lnTo>
                  <a:pt x="0" y="3839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60639" y="951090"/>
            <a:ext cx="7626363" cy="716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0"/>
              </a:lnSpc>
            </a:pPr>
            <a:r>
              <a:rPr lang="en-US" sz="5511" spc="-164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업무 SQL 개요 · 뷰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20745" y="2772356"/>
            <a:ext cx="3266627" cy="391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8"/>
              </a:lnSpc>
            </a:pPr>
            <a:r>
              <a:rPr lang="en-US" sz="2979" spc="-119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과정별 신청 인원 집계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29041" y="3258322"/>
            <a:ext cx="10269845" cy="482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2"/>
              </a:lnSpc>
            </a:pPr>
            <a:r>
              <a:rPr lang="en-US" sz="2328" spc="-23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vwCourseEnrollmentSummary- 개설과정별 현재 수강 신청 인원 수를 집계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8085222" y="233477"/>
            <a:ext cx="85658" cy="380705"/>
          </a:xfrm>
          <a:custGeom>
            <a:avLst/>
            <a:gdLst/>
            <a:ahLst/>
            <a:cxnLst/>
            <a:rect r="r" b="b" t="t" l="l"/>
            <a:pathLst>
              <a:path h="380705" w="85658">
                <a:moveTo>
                  <a:pt x="0" y="0"/>
                </a:moveTo>
                <a:lnTo>
                  <a:pt x="85659" y="0"/>
                </a:lnTo>
                <a:lnTo>
                  <a:pt x="85659" y="380705"/>
                </a:lnTo>
                <a:lnTo>
                  <a:pt x="0" y="380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559" t="0" r="-554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7287" y="2070183"/>
            <a:ext cx="17053417" cy="7607551"/>
          </a:xfrm>
          <a:custGeom>
            <a:avLst/>
            <a:gdLst/>
            <a:ahLst/>
            <a:cxnLst/>
            <a:rect r="r" b="b" t="t" l="l"/>
            <a:pathLst>
              <a:path h="7607551" w="17053417">
                <a:moveTo>
                  <a:pt x="0" y="0"/>
                </a:moveTo>
                <a:lnTo>
                  <a:pt x="17053417" y="0"/>
                </a:lnTo>
                <a:lnTo>
                  <a:pt x="17053417" y="7607550"/>
                </a:lnTo>
                <a:lnTo>
                  <a:pt x="0" y="76075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" r="0" b="-2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332014" y="2045218"/>
            <a:ext cx="281750" cy="894493"/>
            <a:chOff x="0" y="0"/>
            <a:chExt cx="375666" cy="11926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5666" cy="1192657"/>
            </a:xfrm>
            <a:custGeom>
              <a:avLst/>
              <a:gdLst/>
              <a:ahLst/>
              <a:cxnLst/>
              <a:rect r="r" b="b" t="t" l="l"/>
              <a:pathLst>
                <a:path h="1192657" w="375666">
                  <a:moveTo>
                    <a:pt x="0" y="0"/>
                  </a:moveTo>
                  <a:lnTo>
                    <a:pt x="375666" y="0"/>
                  </a:lnTo>
                  <a:lnTo>
                    <a:pt x="375666" y="1192657"/>
                  </a:lnTo>
                  <a:lnTo>
                    <a:pt x="0" y="119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67" t="0" r="-267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584446" y="2855566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6"/>
                </a:lnTo>
                <a:lnTo>
                  <a:pt x="0" y="1683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832" t="0" r="-832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92479" y="1144457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5"/>
                </a:lnTo>
                <a:lnTo>
                  <a:pt x="0" y="38392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392479" y="3969734"/>
            <a:ext cx="7400868" cy="5120602"/>
            <a:chOff x="0" y="0"/>
            <a:chExt cx="9867824" cy="68274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867773" cy="6827520"/>
            </a:xfrm>
            <a:custGeom>
              <a:avLst/>
              <a:gdLst/>
              <a:ahLst/>
              <a:cxnLst/>
              <a:rect r="r" b="b" t="t" l="l"/>
              <a:pathLst>
                <a:path h="6827520" w="9867773">
                  <a:moveTo>
                    <a:pt x="0" y="0"/>
                  </a:moveTo>
                  <a:lnTo>
                    <a:pt x="9867773" y="0"/>
                  </a:lnTo>
                  <a:lnTo>
                    <a:pt x="9867773" y="6827520"/>
                  </a:lnTo>
                  <a:lnTo>
                    <a:pt x="0" y="6827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0" y="7043318"/>
            <a:ext cx="6513224" cy="2047018"/>
            <a:chOff x="0" y="0"/>
            <a:chExt cx="8684298" cy="272935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684260" cy="2729357"/>
            </a:xfrm>
            <a:custGeom>
              <a:avLst/>
              <a:gdLst/>
              <a:ahLst/>
              <a:cxnLst/>
              <a:rect r="r" b="b" t="t" l="l"/>
              <a:pathLst>
                <a:path h="2729357" w="8684260">
                  <a:moveTo>
                    <a:pt x="0" y="0"/>
                  </a:moveTo>
                  <a:lnTo>
                    <a:pt x="8684260" y="0"/>
                  </a:lnTo>
                  <a:lnTo>
                    <a:pt x="8684260" y="2729357"/>
                  </a:lnTo>
                  <a:lnTo>
                    <a:pt x="0" y="27293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760639" y="951090"/>
            <a:ext cx="7626363" cy="716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0"/>
              </a:lnSpc>
            </a:pPr>
            <a:r>
              <a:rPr lang="en-US" sz="5511" spc="-164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업무 SQL 개요 · 함수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20745" y="2772356"/>
            <a:ext cx="2660009" cy="391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8"/>
              </a:lnSpc>
            </a:pPr>
            <a:r>
              <a:rPr lang="en-US" sz="2979" spc="-119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fnCalcTotalScore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29041" y="3258322"/>
            <a:ext cx="10269845" cy="482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2"/>
              </a:lnSpc>
            </a:pPr>
            <a:r>
              <a:rPr lang="en-US" sz="2328" spc="-23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성적 총점 계산</a:t>
            </a: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8085222" y="233477"/>
            <a:ext cx="85658" cy="380705"/>
          </a:xfrm>
          <a:custGeom>
            <a:avLst/>
            <a:gdLst/>
            <a:ahLst/>
            <a:cxnLst/>
            <a:rect r="r" b="b" t="t" l="l"/>
            <a:pathLst>
              <a:path h="380705" w="85658">
                <a:moveTo>
                  <a:pt x="0" y="0"/>
                </a:moveTo>
                <a:lnTo>
                  <a:pt x="85659" y="0"/>
                </a:lnTo>
                <a:lnTo>
                  <a:pt x="85659" y="380705"/>
                </a:lnTo>
                <a:lnTo>
                  <a:pt x="0" y="380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559" t="0" r="-554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7287" y="2070183"/>
            <a:ext cx="17053417" cy="7607551"/>
          </a:xfrm>
          <a:custGeom>
            <a:avLst/>
            <a:gdLst/>
            <a:ahLst/>
            <a:cxnLst/>
            <a:rect r="r" b="b" t="t" l="l"/>
            <a:pathLst>
              <a:path h="7607551" w="17053417">
                <a:moveTo>
                  <a:pt x="0" y="0"/>
                </a:moveTo>
                <a:lnTo>
                  <a:pt x="17053417" y="0"/>
                </a:lnTo>
                <a:lnTo>
                  <a:pt x="17053417" y="7607550"/>
                </a:lnTo>
                <a:lnTo>
                  <a:pt x="0" y="76075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" r="0" b="-2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332014" y="2045218"/>
            <a:ext cx="281750" cy="894493"/>
            <a:chOff x="0" y="0"/>
            <a:chExt cx="375666" cy="11926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5666" cy="1192657"/>
            </a:xfrm>
            <a:custGeom>
              <a:avLst/>
              <a:gdLst/>
              <a:ahLst/>
              <a:cxnLst/>
              <a:rect r="r" b="b" t="t" l="l"/>
              <a:pathLst>
                <a:path h="1192657" w="375666">
                  <a:moveTo>
                    <a:pt x="0" y="0"/>
                  </a:moveTo>
                  <a:lnTo>
                    <a:pt x="375666" y="0"/>
                  </a:lnTo>
                  <a:lnTo>
                    <a:pt x="375666" y="1192657"/>
                  </a:lnTo>
                  <a:lnTo>
                    <a:pt x="0" y="119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67" t="0" r="-267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584446" y="2855566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6"/>
                </a:lnTo>
                <a:lnTo>
                  <a:pt x="0" y="1683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832" t="0" r="-832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92479" y="1144457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5"/>
                </a:lnTo>
                <a:lnTo>
                  <a:pt x="0" y="38392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392479" y="3741134"/>
            <a:ext cx="5864809" cy="5708009"/>
            <a:chOff x="0" y="0"/>
            <a:chExt cx="7819746" cy="76106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19771" cy="7610729"/>
            </a:xfrm>
            <a:custGeom>
              <a:avLst/>
              <a:gdLst/>
              <a:ahLst/>
              <a:cxnLst/>
              <a:rect r="r" b="b" t="t" l="l"/>
              <a:pathLst>
                <a:path h="7610729" w="7819771">
                  <a:moveTo>
                    <a:pt x="0" y="0"/>
                  </a:moveTo>
                  <a:lnTo>
                    <a:pt x="7819771" y="0"/>
                  </a:lnTo>
                  <a:lnTo>
                    <a:pt x="7819771" y="7610729"/>
                  </a:lnTo>
                  <a:lnTo>
                    <a:pt x="0" y="7610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869" r="0" b="-86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598597" y="7759113"/>
            <a:ext cx="8487080" cy="1690021"/>
            <a:chOff x="0" y="0"/>
            <a:chExt cx="11316106" cy="225336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316081" cy="2253361"/>
            </a:xfrm>
            <a:custGeom>
              <a:avLst/>
              <a:gdLst/>
              <a:ahLst/>
              <a:cxnLst/>
              <a:rect r="r" b="b" t="t" l="l"/>
              <a:pathLst>
                <a:path h="2253361" w="11316081">
                  <a:moveTo>
                    <a:pt x="0" y="0"/>
                  </a:moveTo>
                  <a:lnTo>
                    <a:pt x="11316081" y="0"/>
                  </a:lnTo>
                  <a:lnTo>
                    <a:pt x="11316081" y="2253361"/>
                  </a:lnTo>
                  <a:lnTo>
                    <a:pt x="0" y="22533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725" r="0" b="-725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760639" y="951090"/>
            <a:ext cx="7626363" cy="716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0"/>
              </a:lnSpc>
            </a:pPr>
            <a:r>
              <a:rPr lang="en-US" sz="5511" spc="-164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업무 SQL 개요 · 함수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20745" y="2772356"/>
            <a:ext cx="3351609" cy="391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8"/>
              </a:lnSpc>
            </a:pPr>
            <a:r>
              <a:rPr lang="en-US" sz="2979" spc="-119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fnGetAttendanceRate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20745" y="3144612"/>
            <a:ext cx="10269845" cy="482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2"/>
              </a:lnSpc>
            </a:pPr>
            <a:r>
              <a:rPr lang="en-US" sz="2328" spc="-23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학생 출석률 단건 조회</a:t>
            </a:r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7673818" y="233477"/>
            <a:ext cx="85658" cy="380705"/>
          </a:xfrm>
          <a:custGeom>
            <a:avLst/>
            <a:gdLst/>
            <a:ahLst/>
            <a:cxnLst/>
            <a:rect r="r" b="b" t="t" l="l"/>
            <a:pathLst>
              <a:path h="380705" w="85658">
                <a:moveTo>
                  <a:pt x="0" y="0"/>
                </a:moveTo>
                <a:lnTo>
                  <a:pt x="85659" y="0"/>
                </a:lnTo>
                <a:lnTo>
                  <a:pt x="85659" y="380705"/>
                </a:lnTo>
                <a:lnTo>
                  <a:pt x="0" y="380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559" t="0" r="-554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17637" y="1073391"/>
            <a:ext cx="3620132" cy="832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30"/>
              </a:lnSpc>
            </a:pPr>
            <a:r>
              <a:rPr lang="en-US" sz="6011" spc="-180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점검 사항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17287" y="2062162"/>
            <a:ext cx="17053417" cy="7607551"/>
          </a:xfrm>
          <a:custGeom>
            <a:avLst/>
            <a:gdLst/>
            <a:ahLst/>
            <a:cxnLst/>
            <a:rect r="r" b="b" t="t" l="l"/>
            <a:pathLst>
              <a:path h="7607551" w="17053417">
                <a:moveTo>
                  <a:pt x="0" y="0"/>
                </a:moveTo>
                <a:lnTo>
                  <a:pt x="17053417" y="0"/>
                </a:lnTo>
                <a:lnTo>
                  <a:pt x="17053417" y="7607551"/>
                </a:lnTo>
                <a:lnTo>
                  <a:pt x="0" y="76075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" r="0" b="-2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81075" y="1047750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4"/>
                </a:lnTo>
                <a:lnTo>
                  <a:pt x="0" y="3839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920610" y="2045218"/>
            <a:ext cx="281750" cy="894493"/>
            <a:chOff x="0" y="0"/>
            <a:chExt cx="375666" cy="11926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5666" cy="1192657"/>
            </a:xfrm>
            <a:custGeom>
              <a:avLst/>
              <a:gdLst/>
              <a:ahLst/>
              <a:cxnLst/>
              <a:rect r="r" b="b" t="t" l="l"/>
              <a:pathLst>
                <a:path h="1192657" w="375666">
                  <a:moveTo>
                    <a:pt x="0" y="0"/>
                  </a:moveTo>
                  <a:lnTo>
                    <a:pt x="375666" y="0"/>
                  </a:lnTo>
                  <a:lnTo>
                    <a:pt x="375666" y="1192657"/>
                  </a:lnTo>
                  <a:lnTo>
                    <a:pt x="0" y="119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67" t="0" r="-267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58598" y="3312157"/>
            <a:ext cx="7164800" cy="5278184"/>
            <a:chOff x="0" y="0"/>
            <a:chExt cx="9553067" cy="70375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53067" cy="7037578"/>
            </a:xfrm>
            <a:custGeom>
              <a:avLst/>
              <a:gdLst/>
              <a:ahLst/>
              <a:cxnLst/>
              <a:rect r="r" b="b" t="t" l="l"/>
              <a:pathLst>
                <a:path h="7037578" w="9553067">
                  <a:moveTo>
                    <a:pt x="0" y="0"/>
                  </a:moveTo>
                  <a:lnTo>
                    <a:pt x="9553067" y="0"/>
                  </a:lnTo>
                  <a:lnTo>
                    <a:pt x="9553067" y="7037578"/>
                  </a:lnTo>
                  <a:lnTo>
                    <a:pt x="0" y="7037578"/>
                  </a:lnTo>
                  <a:close/>
                </a:path>
              </a:pathLst>
            </a:custGeom>
            <a:blipFill>
              <a:blip r:embed="rId9"/>
              <a:stretch>
                <a:fillRect l="-5251" t="0" r="-5251" b="0"/>
              </a:stretch>
            </a:blipFill>
            <a:ln w="19050" cap="sq">
              <a:solidFill>
                <a:srgbClr val="222222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9833277" y="3843061"/>
            <a:ext cx="2818878" cy="4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3197" spc="-125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동시성 검사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33277" y="5529615"/>
            <a:ext cx="3064816" cy="4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3197" spc="-125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무결성 검사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33277" y="7149503"/>
            <a:ext cx="2389099" cy="4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3197" spc="-125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트랜잭션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471917" y="3866902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6"/>
                </a:lnTo>
                <a:lnTo>
                  <a:pt x="0" y="1683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832" t="0" r="-832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471917" y="5543921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6"/>
                </a:lnTo>
                <a:lnTo>
                  <a:pt x="0" y="1683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832" t="0" r="-832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471917" y="7169648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6"/>
                </a:lnTo>
                <a:lnTo>
                  <a:pt x="0" y="1683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832" t="0" r="-832" b="0"/>
            </a:stretch>
          </a:blipFill>
        </p:spPr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1075" y="1047750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4"/>
                </a:lnTo>
                <a:lnTo>
                  <a:pt x="0" y="383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7291" y="2077827"/>
            <a:ext cx="17053417" cy="7607551"/>
          </a:xfrm>
          <a:custGeom>
            <a:avLst/>
            <a:gdLst/>
            <a:ahLst/>
            <a:cxnLst/>
            <a:rect r="r" b="b" t="t" l="l"/>
            <a:pathLst>
              <a:path h="7607551" w="17053417">
                <a:moveTo>
                  <a:pt x="0" y="0"/>
                </a:moveTo>
                <a:lnTo>
                  <a:pt x="17053418" y="0"/>
                </a:lnTo>
                <a:lnTo>
                  <a:pt x="17053418" y="7607551"/>
                </a:lnTo>
                <a:lnTo>
                  <a:pt x="0" y="76075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" r="0" b="-2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332014" y="2045218"/>
            <a:ext cx="281750" cy="894493"/>
            <a:chOff x="0" y="0"/>
            <a:chExt cx="375666" cy="11926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5666" cy="1192657"/>
            </a:xfrm>
            <a:custGeom>
              <a:avLst/>
              <a:gdLst/>
              <a:ahLst/>
              <a:cxnLst/>
              <a:rect r="r" b="b" t="t" l="l"/>
              <a:pathLst>
                <a:path h="1192657" w="375666">
                  <a:moveTo>
                    <a:pt x="0" y="0"/>
                  </a:moveTo>
                  <a:lnTo>
                    <a:pt x="375666" y="0"/>
                  </a:lnTo>
                  <a:lnTo>
                    <a:pt x="375666" y="1192657"/>
                  </a:lnTo>
                  <a:lnTo>
                    <a:pt x="0" y="119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67" t="0" r="-267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584446" y="2855566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6"/>
                </a:lnTo>
                <a:lnTo>
                  <a:pt x="0" y="1683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832" t="0" r="-832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20745" y="3144612"/>
            <a:ext cx="10269845" cy="416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2"/>
              </a:lnSpc>
            </a:pPr>
            <a:r>
              <a:rPr lang="en-US" sz="2328" spc="-23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출결 상태 동시 수정 문제 해결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1619237" y="3560740"/>
            <a:ext cx="15354730" cy="381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920745" y="4295054"/>
            <a:ext cx="6096927" cy="2331833"/>
          </a:xfrm>
          <a:custGeom>
            <a:avLst/>
            <a:gdLst/>
            <a:ahLst/>
            <a:cxnLst/>
            <a:rect r="r" b="b" t="t" l="l"/>
            <a:pathLst>
              <a:path h="2331833" w="6096927">
                <a:moveTo>
                  <a:pt x="0" y="0"/>
                </a:moveTo>
                <a:lnTo>
                  <a:pt x="6096927" y="0"/>
                </a:lnTo>
                <a:lnTo>
                  <a:pt x="6096927" y="2331834"/>
                </a:lnTo>
                <a:lnTo>
                  <a:pt x="0" y="233183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8585894" y="4900730"/>
            <a:ext cx="0" cy="575835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8585894" y="6221421"/>
            <a:ext cx="0" cy="575835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8585894" y="5559861"/>
            <a:ext cx="0" cy="575835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920745" y="6979313"/>
            <a:ext cx="4931719" cy="2386844"/>
          </a:xfrm>
          <a:custGeom>
            <a:avLst/>
            <a:gdLst/>
            <a:ahLst/>
            <a:cxnLst/>
            <a:rect r="r" b="b" t="t" l="l"/>
            <a:pathLst>
              <a:path h="2386844" w="4931719">
                <a:moveTo>
                  <a:pt x="0" y="0"/>
                </a:moveTo>
                <a:lnTo>
                  <a:pt x="4931719" y="0"/>
                </a:lnTo>
                <a:lnTo>
                  <a:pt x="4931719" y="2386844"/>
                </a:lnTo>
                <a:lnTo>
                  <a:pt x="0" y="238684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-1342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619237" y="1085850"/>
            <a:ext cx="5108029" cy="773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0"/>
              </a:lnSpc>
            </a:pPr>
            <a:r>
              <a:rPr lang="en-US" sz="5511" spc="-164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점검 사항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20745" y="2772356"/>
            <a:ext cx="1845022" cy="420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8"/>
              </a:lnSpc>
            </a:pPr>
            <a:r>
              <a:rPr lang="en-US" sz="2979" spc="-119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동시성  제어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20745" y="3684616"/>
            <a:ext cx="11937788" cy="410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2"/>
              </a:lnSpc>
            </a:pPr>
            <a:r>
              <a:rPr lang="en-US" sz="2228" spc="-22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두 세션이 동시에 같은 출결 데이터를 수정할때 나중에 COMMIT한 값이 먼저 값을 덮어써 유실되는 문제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85894" y="4305532"/>
            <a:ext cx="4008444" cy="385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28" spc="-21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해결책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753098" y="4862630"/>
            <a:ext cx="1099572" cy="275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580" spc="-15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원자적 DML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711652" y="5140142"/>
            <a:ext cx="6722159" cy="250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2"/>
              </a:lnSpc>
            </a:pPr>
            <a:r>
              <a:rPr lang="en-US" sz="1428" spc="-14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장점 : 조회 + 검증 + 변경을 한 SQL로 처리       단점: 실패해도 에러없이 조용히 0건 처리됨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794545" y="5565991"/>
            <a:ext cx="1099572" cy="275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580" spc="-15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낙관적 락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753098" y="5843503"/>
            <a:ext cx="6722159" cy="250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2"/>
              </a:lnSpc>
            </a:pPr>
            <a:r>
              <a:rPr lang="en-US" sz="1428" spc="-14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장점 : 동시 조회 성능이 좋음                              단점: 충동이 잦으면 재시도가 계속 실패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794545" y="6255820"/>
            <a:ext cx="1099572" cy="275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580" spc="-15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제약조건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753098" y="6533332"/>
            <a:ext cx="6722159" cy="250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2"/>
              </a:lnSpc>
            </a:pPr>
            <a:r>
              <a:rPr lang="en-US" sz="1428" spc="-14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장점 : 가장 강력하고 우회 불가능                       단점: 같은 행 안의 값끼리만 비교 가능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203043" y="8521281"/>
            <a:ext cx="10269845" cy="370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2"/>
              </a:lnSpc>
            </a:pPr>
            <a:r>
              <a:rPr lang="en-US" sz="2028" spc="-20">
                <a:solidFill>
                  <a:srgbClr val="CC0000"/>
                </a:solidFill>
                <a:latin typeface="JASO Sans"/>
                <a:ea typeface="JASO Sans"/>
                <a:cs typeface="JASO Sans"/>
                <a:sym typeface="JASO Sans"/>
              </a:rPr>
              <a:t>예상 결과: 지각 / 실제 결과: 결석(세션 1의 수정이 없어짐)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203043" y="8977414"/>
            <a:ext cx="10269845" cy="370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2"/>
              </a:lnSpc>
            </a:pPr>
            <a:r>
              <a:rPr lang="en-US" sz="2028" spc="-20">
                <a:solidFill>
                  <a:srgbClr val="00357A"/>
                </a:solidFill>
                <a:latin typeface="JASO Sans"/>
                <a:ea typeface="JASO Sans"/>
                <a:cs typeface="JASO Sans"/>
                <a:sym typeface="JASO Sans"/>
              </a:rPr>
              <a:t>해결 후 재시험 결과: 예상(결석) = 실제(결석) &gt; 정상동작 확인</a:t>
            </a:r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1075" y="1047750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4"/>
                </a:lnTo>
                <a:lnTo>
                  <a:pt x="0" y="383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5930" y="2045218"/>
            <a:ext cx="17053417" cy="7607551"/>
          </a:xfrm>
          <a:custGeom>
            <a:avLst/>
            <a:gdLst/>
            <a:ahLst/>
            <a:cxnLst/>
            <a:rect r="r" b="b" t="t" l="l"/>
            <a:pathLst>
              <a:path h="7607551" w="17053417">
                <a:moveTo>
                  <a:pt x="0" y="0"/>
                </a:moveTo>
                <a:lnTo>
                  <a:pt x="17053417" y="0"/>
                </a:lnTo>
                <a:lnTo>
                  <a:pt x="17053417" y="7607550"/>
                </a:lnTo>
                <a:lnTo>
                  <a:pt x="0" y="76075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" r="0" b="-2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028389" y="1961074"/>
            <a:ext cx="281750" cy="894493"/>
            <a:chOff x="0" y="0"/>
            <a:chExt cx="375666" cy="11926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5666" cy="1192657"/>
            </a:xfrm>
            <a:custGeom>
              <a:avLst/>
              <a:gdLst/>
              <a:ahLst/>
              <a:cxnLst/>
              <a:rect r="r" b="b" t="t" l="l"/>
              <a:pathLst>
                <a:path h="1192657" w="375666">
                  <a:moveTo>
                    <a:pt x="0" y="0"/>
                  </a:moveTo>
                  <a:lnTo>
                    <a:pt x="375666" y="0"/>
                  </a:lnTo>
                  <a:lnTo>
                    <a:pt x="375666" y="1192657"/>
                  </a:lnTo>
                  <a:lnTo>
                    <a:pt x="0" y="119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67" t="0" r="-267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584446" y="2855566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6"/>
                </a:lnTo>
                <a:lnTo>
                  <a:pt x="0" y="1683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832" t="0" r="-832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87009" y="3808140"/>
            <a:ext cx="11562196" cy="2433721"/>
          </a:xfrm>
          <a:custGeom>
            <a:avLst/>
            <a:gdLst/>
            <a:ahLst/>
            <a:cxnLst/>
            <a:rect r="r" b="b" t="t" l="l"/>
            <a:pathLst>
              <a:path h="2433721" w="11562196">
                <a:moveTo>
                  <a:pt x="0" y="0"/>
                </a:moveTo>
                <a:lnTo>
                  <a:pt x="11562195" y="0"/>
                </a:lnTo>
                <a:lnTo>
                  <a:pt x="11562195" y="2433720"/>
                </a:lnTo>
                <a:lnTo>
                  <a:pt x="0" y="243372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649204" y="3817745"/>
            <a:ext cx="4379185" cy="4062496"/>
          </a:xfrm>
          <a:custGeom>
            <a:avLst/>
            <a:gdLst/>
            <a:ahLst/>
            <a:cxnLst/>
            <a:rect r="r" b="b" t="t" l="l"/>
            <a:pathLst>
              <a:path h="4062496" w="4379185">
                <a:moveTo>
                  <a:pt x="0" y="0"/>
                </a:moveTo>
                <a:lnTo>
                  <a:pt x="4379185" y="0"/>
                </a:lnTo>
                <a:lnTo>
                  <a:pt x="4379185" y="4062496"/>
                </a:lnTo>
                <a:lnTo>
                  <a:pt x="0" y="40624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-11816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19237" y="1085850"/>
            <a:ext cx="5108029" cy="773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0"/>
              </a:lnSpc>
            </a:pPr>
            <a:r>
              <a:rPr lang="en-US" sz="5511" spc="-164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점검 사항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20745" y="2772356"/>
            <a:ext cx="1934914" cy="420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8"/>
              </a:lnSpc>
            </a:pPr>
            <a:r>
              <a:rPr lang="en-US" sz="2979" spc="-119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무결성 검사 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84446" y="3240051"/>
            <a:ext cx="9933507" cy="416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2"/>
              </a:lnSpc>
              <a:spcBef>
                <a:spcPct val="0"/>
              </a:spcBef>
            </a:pPr>
            <a:r>
              <a:rPr lang="en-US" sz="2328" spc="-23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핵심 업무 규칙</a:t>
            </a:r>
            <a:r>
              <a:rPr lang="en-US" sz="2328" spc="-23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 5가지 DB 제약조건(CHECK UNIQUE)으로 적용되어 있는지 점검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1075" y="6527610"/>
            <a:ext cx="4247852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 spc="-13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문제</a:t>
            </a:r>
          </a:p>
          <a:p>
            <a:pPr algn="l">
              <a:lnSpc>
                <a:spcPts val="2250"/>
              </a:lnSpc>
            </a:pPr>
            <a:r>
              <a:rPr lang="en-US" sz="1500" spc="-13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성적 범위,과정 기간,질문-답변 관계 등 핵심 업무 규칙이</a:t>
            </a:r>
          </a:p>
          <a:p>
            <a:pPr algn="l">
              <a:lnSpc>
                <a:spcPts val="2250"/>
              </a:lnSpc>
              <a:spcBef>
                <a:spcPct val="0"/>
              </a:spcBef>
            </a:pPr>
            <a:r>
              <a:rPr lang="en-US" sz="1500" spc="-14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 DB 레벨에서 실제로 강제되고</a:t>
            </a:r>
            <a:r>
              <a:rPr lang="en-US" sz="1500" spc="-14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 있는지 불확실했다.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179843" y="6527610"/>
            <a:ext cx="533811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  <a:spcBef>
                <a:spcPct val="0"/>
              </a:spcBef>
            </a:pPr>
            <a:r>
              <a:rPr lang="en-US" sz="1500" spc="-13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원인</a:t>
            </a:r>
          </a:p>
          <a:p>
            <a:pPr algn="l">
              <a:lnSpc>
                <a:spcPts val="2250"/>
              </a:lnSpc>
              <a:spcBef>
                <a:spcPct val="0"/>
              </a:spcBef>
            </a:pPr>
            <a:r>
              <a:rPr lang="en-US" sz="1500" spc="-13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설계 초기 단계에는 이런 규칙들이 로직에서만 걸러질 수도 있어,</a:t>
            </a:r>
          </a:p>
          <a:p>
            <a:pPr algn="l">
              <a:lnSpc>
                <a:spcPts val="2250"/>
              </a:lnSpc>
              <a:spcBef>
                <a:spcPct val="0"/>
              </a:spcBef>
            </a:pPr>
            <a:r>
              <a:rPr lang="en-US" sz="1500" spc="-14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DB 자체 검증 여부를 별도로 점검할  필요가 있었다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1075" y="7832535"/>
            <a:ext cx="4370487" cy="1703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32"/>
              </a:lnSpc>
            </a:pPr>
            <a:r>
              <a:rPr lang="en-US" sz="1288" spc="-11">
                <a:solidFill>
                  <a:srgbClr val="00357A"/>
                </a:solidFill>
                <a:latin typeface="JASO Sans"/>
                <a:ea typeface="JASO Sans"/>
                <a:cs typeface="JASO Sans"/>
                <a:sym typeface="JASO Sans"/>
              </a:rPr>
              <a:t>해결 </a:t>
            </a:r>
          </a:p>
          <a:p>
            <a:pPr algn="just">
              <a:lnSpc>
                <a:spcPts val="2250"/>
              </a:lnSpc>
            </a:pPr>
            <a:r>
              <a:rPr lang="en-US" sz="1500" spc="-13">
                <a:solidFill>
                  <a:srgbClr val="00357A"/>
                </a:solidFill>
                <a:latin typeface="JASO Sans"/>
                <a:ea typeface="JASO Sans"/>
                <a:cs typeface="JASO Sans"/>
                <a:sym typeface="JASO Sans"/>
              </a:rPr>
              <a:t>1. CHECK 제약조건 (데이터 값의 범위/조건 검사)</a:t>
            </a:r>
          </a:p>
          <a:p>
            <a:pPr algn="just">
              <a:lnSpc>
                <a:spcPts val="1932"/>
              </a:lnSpc>
            </a:pPr>
            <a:r>
              <a:rPr lang="en-US" sz="1288" spc="-11">
                <a:solidFill>
                  <a:srgbClr val="00357A"/>
                </a:solidFill>
                <a:latin typeface="JASO Sans"/>
                <a:ea typeface="JASO Sans"/>
                <a:cs typeface="JASO Sans"/>
                <a:sym typeface="JASO Sans"/>
              </a:rPr>
              <a:t>의미: 들어오는 데이터가 특정 조건을 만족하는지 DB가 검사합니다</a:t>
            </a:r>
          </a:p>
          <a:p>
            <a:pPr algn="just">
              <a:lnSpc>
                <a:spcPts val="1932"/>
              </a:lnSpc>
            </a:pPr>
          </a:p>
          <a:p>
            <a:pPr algn="just">
              <a:lnSpc>
                <a:spcPts val="1932"/>
              </a:lnSpc>
            </a:pPr>
            <a:r>
              <a:rPr lang="en-US" sz="1288" spc="-11">
                <a:solidFill>
                  <a:srgbClr val="00357A"/>
                </a:solidFill>
                <a:latin typeface="JASO Sans"/>
                <a:ea typeface="JASO Sans"/>
                <a:cs typeface="JASO Sans"/>
                <a:sym typeface="JASO Sans"/>
              </a:rPr>
              <a:t>2. UNIQUE 제약조건 (중복 금지)</a:t>
            </a:r>
          </a:p>
          <a:p>
            <a:pPr algn="just">
              <a:lnSpc>
                <a:spcPts val="1932"/>
              </a:lnSpc>
            </a:pPr>
            <a:r>
              <a:rPr lang="en-US" sz="1288" spc="-11">
                <a:solidFill>
                  <a:srgbClr val="00357A"/>
                </a:solidFill>
                <a:latin typeface="JASO Sans"/>
                <a:ea typeface="JASO Sans"/>
                <a:cs typeface="JASO Sans"/>
                <a:sym typeface="JASO Sans"/>
              </a:rPr>
              <a:t>의미: 특정 컬럼에 중복된 값이 들어가지 못하게 막습니다.</a:t>
            </a:r>
          </a:p>
          <a:p>
            <a:pPr algn="just">
              <a:lnSpc>
                <a:spcPts val="1932"/>
              </a:lnSpc>
              <a:spcBef>
                <a:spcPct val="0"/>
              </a:spcBef>
            </a:pPr>
            <a:r>
              <a:rPr lang="en-US" sz="1288" spc="-12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.</a:t>
            </a:r>
          </a:p>
        </p:txBody>
      </p:sp>
      <p:sp>
        <p:nvSpPr>
          <p:cNvPr name="AutoShape 15" id="15"/>
          <p:cNvSpPr/>
          <p:nvPr/>
        </p:nvSpPr>
        <p:spPr>
          <a:xfrm>
            <a:off x="1087009" y="3656179"/>
            <a:ext cx="1594138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1075" y="1047750"/>
            <a:ext cx="383924" cy="383924"/>
          </a:xfrm>
          <a:custGeom>
            <a:avLst/>
            <a:gdLst/>
            <a:ahLst/>
            <a:cxnLst/>
            <a:rect r="r" b="b" t="t" l="l"/>
            <a:pathLst>
              <a:path h="383924" w="383924">
                <a:moveTo>
                  <a:pt x="0" y="0"/>
                </a:moveTo>
                <a:lnTo>
                  <a:pt x="383924" y="0"/>
                </a:lnTo>
                <a:lnTo>
                  <a:pt x="383924" y="383924"/>
                </a:lnTo>
                <a:lnTo>
                  <a:pt x="0" y="383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5930" y="2045218"/>
            <a:ext cx="17053417" cy="7607551"/>
          </a:xfrm>
          <a:custGeom>
            <a:avLst/>
            <a:gdLst/>
            <a:ahLst/>
            <a:cxnLst/>
            <a:rect r="r" b="b" t="t" l="l"/>
            <a:pathLst>
              <a:path h="7607551" w="17053417">
                <a:moveTo>
                  <a:pt x="0" y="0"/>
                </a:moveTo>
                <a:lnTo>
                  <a:pt x="17053417" y="0"/>
                </a:lnTo>
                <a:lnTo>
                  <a:pt x="17053417" y="7607550"/>
                </a:lnTo>
                <a:lnTo>
                  <a:pt x="0" y="76075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" r="0" b="-2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977550" y="1961074"/>
            <a:ext cx="281750" cy="894493"/>
            <a:chOff x="0" y="0"/>
            <a:chExt cx="375666" cy="11926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5666" cy="1192657"/>
            </a:xfrm>
            <a:custGeom>
              <a:avLst/>
              <a:gdLst/>
              <a:ahLst/>
              <a:cxnLst/>
              <a:rect r="r" b="b" t="t" l="l"/>
              <a:pathLst>
                <a:path h="1192657" w="375666">
                  <a:moveTo>
                    <a:pt x="0" y="0"/>
                  </a:moveTo>
                  <a:lnTo>
                    <a:pt x="375666" y="0"/>
                  </a:lnTo>
                  <a:lnTo>
                    <a:pt x="375666" y="1192657"/>
                  </a:lnTo>
                  <a:lnTo>
                    <a:pt x="0" y="1192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67" t="0" r="-267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584446" y="2855566"/>
            <a:ext cx="220761" cy="168326"/>
          </a:xfrm>
          <a:custGeom>
            <a:avLst/>
            <a:gdLst/>
            <a:ahLst/>
            <a:cxnLst/>
            <a:rect r="r" b="b" t="t" l="l"/>
            <a:pathLst>
              <a:path h="168326" w="220761">
                <a:moveTo>
                  <a:pt x="0" y="0"/>
                </a:moveTo>
                <a:lnTo>
                  <a:pt x="220761" y="0"/>
                </a:lnTo>
                <a:lnTo>
                  <a:pt x="220761" y="168326"/>
                </a:lnTo>
                <a:lnTo>
                  <a:pt x="0" y="1683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832" t="0" r="-832" b="0"/>
            </a:stretch>
          </a:blipFill>
        </p:spPr>
      </p:sp>
      <p:sp>
        <p:nvSpPr>
          <p:cNvPr name="AutoShape 7" id="7"/>
          <p:cNvSpPr/>
          <p:nvPr/>
        </p:nvSpPr>
        <p:spPr>
          <a:xfrm flipV="true">
            <a:off x="1466630" y="3593156"/>
            <a:ext cx="15354730" cy="381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584446" y="3850331"/>
            <a:ext cx="4756909" cy="5549825"/>
          </a:xfrm>
          <a:custGeom>
            <a:avLst/>
            <a:gdLst/>
            <a:ahLst/>
            <a:cxnLst/>
            <a:rect r="r" b="b" t="t" l="l"/>
            <a:pathLst>
              <a:path h="5549825" w="4756909">
                <a:moveTo>
                  <a:pt x="0" y="0"/>
                </a:moveTo>
                <a:lnTo>
                  <a:pt x="4756908" y="0"/>
                </a:lnTo>
                <a:lnTo>
                  <a:pt x="4756908" y="5549825"/>
                </a:lnTo>
                <a:lnTo>
                  <a:pt x="0" y="55498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517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19237" y="1085850"/>
            <a:ext cx="5108029" cy="773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0"/>
              </a:lnSpc>
            </a:pPr>
            <a:r>
              <a:rPr lang="en-US" sz="5511" spc="-164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점검 사항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20745" y="2772356"/>
            <a:ext cx="1333351" cy="80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5"/>
              </a:lnSpc>
            </a:pPr>
            <a:r>
              <a:rPr lang="en-US" sz="2979" spc="-116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트랜잭션</a:t>
            </a:r>
          </a:p>
          <a:p>
            <a:pPr algn="l">
              <a:lnSpc>
                <a:spcPts val="3038"/>
              </a:lnSpc>
            </a:pPr>
            <a:r>
              <a:rPr lang="en-US" sz="2979" spc="-119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 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94826" y="3157978"/>
            <a:ext cx="10269845" cy="416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2"/>
              </a:lnSpc>
            </a:pPr>
            <a:r>
              <a:rPr lang="en-US" sz="2328" spc="-23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업무 시작 ~ 종료 지점: 신입생 등록 &gt; 수강등록 까지 하나의 트랜잭션으로 처리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715564" y="4111871"/>
            <a:ext cx="6718102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 spc="-13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문제</a:t>
            </a:r>
          </a:p>
          <a:p>
            <a:pPr algn="l">
              <a:lnSpc>
                <a:spcPts val="2250"/>
              </a:lnSpc>
            </a:pPr>
            <a:r>
              <a:rPr lang="en-US" sz="1500" spc="-13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신입생 등록 후 수강신청 이 실패하면,강좌를 하나도 듣지 않은 "유령 학생" 데이터가 남는</a:t>
            </a:r>
          </a:p>
          <a:p>
            <a:pPr algn="l">
              <a:lnSpc>
                <a:spcPts val="2250"/>
              </a:lnSpc>
              <a:spcBef>
                <a:spcPct val="0"/>
              </a:spcBef>
            </a:pPr>
            <a:r>
              <a:rPr lang="en-US" sz="1500" spc="-13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문제</a:t>
            </a:r>
            <a:r>
              <a:rPr lang="en-US" sz="1500" spc="-13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 발생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715564" y="5407271"/>
            <a:ext cx="8039784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 spc="-13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원인</a:t>
            </a:r>
          </a:p>
          <a:p>
            <a:pPr algn="l">
              <a:lnSpc>
                <a:spcPts val="2250"/>
              </a:lnSpc>
              <a:spcBef>
                <a:spcPct val="0"/>
              </a:spcBef>
            </a:pPr>
            <a:r>
              <a:rPr lang="en-US" sz="1500" spc="-13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두 INSERT를</a:t>
            </a:r>
            <a:r>
              <a:rPr lang="en-US" sz="1500" spc="-13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 하나의 트랜잭션으로 묶지 않아, 앞 단계(학생등록)만 성공하고 뒤 단계(수강신청)가</a:t>
            </a:r>
          </a:p>
          <a:p>
            <a:pPr algn="l">
              <a:lnSpc>
                <a:spcPts val="2250"/>
              </a:lnSpc>
              <a:spcBef>
                <a:spcPct val="0"/>
              </a:spcBef>
            </a:pPr>
            <a:r>
              <a:rPr lang="en-US" sz="1500" spc="-13">
                <a:solidFill>
                  <a:srgbClr val="000000"/>
                </a:solidFill>
                <a:latin typeface="JASO Sans"/>
                <a:ea typeface="JASO Sans"/>
                <a:cs typeface="JASO Sans"/>
                <a:sym typeface="JASO Sans"/>
              </a:rPr>
              <a:t>실패해도 앞 단계가 그대로 커밋되어 버림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15564" y="7023718"/>
            <a:ext cx="8261128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 spc="-13">
                <a:solidFill>
                  <a:srgbClr val="00357A"/>
                </a:solidFill>
                <a:latin typeface="JASO Sans"/>
                <a:ea typeface="JASO Sans"/>
                <a:cs typeface="JASO Sans"/>
                <a:sym typeface="JASO Sans"/>
              </a:rPr>
              <a:t>해결</a:t>
            </a:r>
          </a:p>
          <a:p>
            <a:pPr algn="l">
              <a:lnSpc>
                <a:spcPts val="2250"/>
              </a:lnSpc>
              <a:spcBef>
                <a:spcPct val="0"/>
              </a:spcBef>
            </a:pPr>
            <a:r>
              <a:rPr lang="en-US" sz="1500" spc="-13">
                <a:solidFill>
                  <a:srgbClr val="00357A"/>
                </a:solidFill>
                <a:latin typeface="JASO Sans"/>
                <a:ea typeface="JASO Sans"/>
                <a:cs typeface="JASO Sans"/>
                <a:sym typeface="JASO Sans"/>
              </a:rPr>
              <a:t>오류</a:t>
            </a:r>
            <a:r>
              <a:rPr lang="en-US" sz="1500" spc="-13">
                <a:solidFill>
                  <a:srgbClr val="00357A"/>
                </a:solidFill>
                <a:latin typeface="JASO Sans"/>
                <a:ea typeface="JASO Sans"/>
                <a:cs typeface="JASO Sans"/>
                <a:sym typeface="JASO Sans"/>
              </a:rPr>
              <a:t> 발생 시 ROLLBACK으로 학생 등록까지 전부 취소, 재실행 시 학생번호(PK) 중복이 발생하므로 반드시 ROLLBACK 후 재시도해야 함</a:t>
            </a:r>
          </a:p>
        </p:txBody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31303" y="4807506"/>
            <a:ext cx="9025404" cy="2129571"/>
          </a:xfrm>
          <a:custGeom>
            <a:avLst/>
            <a:gdLst/>
            <a:ahLst/>
            <a:cxnLst/>
            <a:rect r="r" b="b" t="t" l="l"/>
            <a:pathLst>
              <a:path h="2129571" w="9025404">
                <a:moveTo>
                  <a:pt x="0" y="0"/>
                </a:moveTo>
                <a:lnTo>
                  <a:pt x="9025404" y="0"/>
                </a:lnTo>
                <a:lnTo>
                  <a:pt x="9025404" y="2129571"/>
                </a:lnTo>
                <a:lnTo>
                  <a:pt x="0" y="21295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70" r="0" b="-7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72602" y="1311069"/>
            <a:ext cx="1942805" cy="1814093"/>
          </a:xfrm>
          <a:custGeom>
            <a:avLst/>
            <a:gdLst/>
            <a:ahLst/>
            <a:cxnLst/>
            <a:rect r="r" b="b" t="t" l="l"/>
            <a:pathLst>
              <a:path h="1814093" w="1942805">
                <a:moveTo>
                  <a:pt x="0" y="0"/>
                </a:moveTo>
                <a:lnTo>
                  <a:pt x="1942805" y="0"/>
                </a:lnTo>
                <a:lnTo>
                  <a:pt x="1942805" y="1814093"/>
                </a:lnTo>
                <a:lnTo>
                  <a:pt x="0" y="18140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9" t="0" r="-109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62008" y="3659226"/>
            <a:ext cx="14963985" cy="1163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01"/>
              </a:lnSpc>
            </a:pPr>
            <a:r>
              <a:rPr lang="en-US" sz="10491" spc="-585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경청해 주셔서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94255" y="5357074"/>
            <a:ext cx="9562452" cy="1163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01"/>
              </a:lnSpc>
            </a:pPr>
            <a:r>
              <a:rPr lang="en-US" sz="10491" spc="-585">
                <a:solidFill>
                  <a:srgbClr val="222222"/>
                </a:solidFill>
                <a:latin typeface="Arimo"/>
                <a:ea typeface="Arimo"/>
                <a:cs typeface="Arimo"/>
                <a:sym typeface="Arimo"/>
              </a:rPr>
              <a:t>감사합니다!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33159" y="7139940"/>
            <a:ext cx="11621672" cy="466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7"/>
              </a:lnSpc>
            </a:pPr>
            <a:r>
              <a:rPr lang="en-US" sz="1998" spc="-37">
                <a:solidFill>
                  <a:srgbClr val="222222">
                    <a:alpha val="94118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교육 센터 관리 프로그램 · Oracle 데이터베이스 프로젝트 · 4조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4953" y="9608191"/>
            <a:ext cx="1873110" cy="252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494" spc="-58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교육 센터 관리 프로그램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641516" y="9765230"/>
            <a:ext cx="3088291" cy="80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9"/>
              </a:lnSpc>
            </a:pPr>
            <a:r>
              <a:rPr lang="en-US" sz="1314" spc="22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4조</a:t>
            </a:r>
          </a:p>
        </p:txBody>
      </p:sp>
      <p:sp>
        <p:nvSpPr>
          <p:cNvPr name="AutoShape 9" id="9"/>
          <p:cNvSpPr/>
          <p:nvPr/>
        </p:nvSpPr>
        <p:spPr>
          <a:xfrm rot="2580">
            <a:off x="2572283" y="9743780"/>
            <a:ext cx="12694930" cy="0"/>
          </a:xfrm>
          <a:prstGeom prst="line">
            <a:avLst/>
          </a:prstGeom>
          <a:ln cap="rnd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-5400000">
            <a:off x="17673818" y="233477"/>
            <a:ext cx="85658" cy="380705"/>
          </a:xfrm>
          <a:custGeom>
            <a:avLst/>
            <a:gdLst/>
            <a:ahLst/>
            <a:cxnLst/>
            <a:rect r="r" b="b" t="t" l="l"/>
            <a:pathLst>
              <a:path h="380705" w="85658">
                <a:moveTo>
                  <a:pt x="0" y="0"/>
                </a:moveTo>
                <a:lnTo>
                  <a:pt x="85659" y="0"/>
                </a:lnTo>
                <a:lnTo>
                  <a:pt x="85659" y="380705"/>
                </a:lnTo>
                <a:lnTo>
                  <a:pt x="0" y="3807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5559" t="0" r="-5548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DAHTWPHDk-E</dc:identifier>
  <dcterms:modified xsi:type="dcterms:W3CDTF">2011-08-01T06:04:30Z</dcterms:modified>
  <cp:revision>1</cp:revision>
  <dc:title>강의실 6개(1~3실 30명, 4~6실 26명) · 과정 6개월 · 과목 30~50개</dc:title>
</cp:coreProperties>
</file>